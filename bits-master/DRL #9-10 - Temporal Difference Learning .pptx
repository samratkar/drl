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3" r:id="rId2"/>
  </p:sldMasterIdLst>
  <p:notesMasterIdLst>
    <p:notesMasterId r:id="rId47"/>
  </p:notesMasterIdLst>
  <p:sldIdLst>
    <p:sldId id="256" r:id="rId3"/>
    <p:sldId id="257" r:id="rId4"/>
    <p:sldId id="258" r:id="rId5"/>
    <p:sldId id="259" r:id="rId6"/>
    <p:sldId id="260" r:id="rId7"/>
    <p:sldId id="295" r:id="rId8"/>
    <p:sldId id="263" r:id="rId9"/>
    <p:sldId id="288" r:id="rId10"/>
    <p:sldId id="289" r:id="rId11"/>
    <p:sldId id="290" r:id="rId12"/>
    <p:sldId id="291" r:id="rId13"/>
    <p:sldId id="292" r:id="rId14"/>
    <p:sldId id="296" r:id="rId15"/>
    <p:sldId id="297" r:id="rId16"/>
    <p:sldId id="298" r:id="rId17"/>
    <p:sldId id="299" r:id="rId18"/>
    <p:sldId id="300" r:id="rId19"/>
    <p:sldId id="301" r:id="rId20"/>
    <p:sldId id="302" r:id="rId21"/>
    <p:sldId id="303" r:id="rId22"/>
    <p:sldId id="304" r:id="rId23"/>
    <p:sldId id="305" r:id="rId24"/>
    <p:sldId id="306" r:id="rId25"/>
    <p:sldId id="307" r:id="rId26"/>
    <p:sldId id="308" r:id="rId27"/>
    <p:sldId id="309" r:id="rId28"/>
    <p:sldId id="310" r:id="rId29"/>
    <p:sldId id="311" r:id="rId30"/>
    <p:sldId id="312" r:id="rId31"/>
    <p:sldId id="313" r:id="rId32"/>
    <p:sldId id="314" r:id="rId33"/>
    <p:sldId id="315" r:id="rId34"/>
    <p:sldId id="316" r:id="rId35"/>
    <p:sldId id="317" r:id="rId36"/>
    <p:sldId id="318" r:id="rId37"/>
    <p:sldId id="319" r:id="rId38"/>
    <p:sldId id="320" r:id="rId39"/>
    <p:sldId id="321" r:id="rId40"/>
    <p:sldId id="279" r:id="rId41"/>
    <p:sldId id="280" r:id="rId42"/>
    <p:sldId id="281" r:id="rId43"/>
    <p:sldId id="282" r:id="rId44"/>
    <p:sldId id="293" r:id="rId45"/>
    <p:sldId id="294" r:id="rId46"/>
  </p:sldIdLst>
  <p:sldSz cx="9144000" cy="5143500" type="screen16x9"/>
  <p:notesSz cx="6858000" cy="9144000"/>
  <p:embeddedFontLst>
    <p:embeddedFont>
      <p:font typeface="Cambria Math" panose="02040503050406030204" pitchFamily="18" charset="0"/>
      <p:regular r:id="rId48"/>
    </p:embeddedFont>
    <p:embeddedFont>
      <p:font typeface="Comfortaa" pitchFamily="2" charset="0"/>
      <p:regular r:id="rId49"/>
      <p:bold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j0xfDjOn4kgv+vQ0LVCloWdESKu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0E33827-207D-4CA6-9A5F-756F78912E09}">
  <a:tblStyle styleId="{D0E33827-207D-4CA6-9A5F-756F78912E09}"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BEEEF"/>
          </a:solidFill>
        </a:fill>
      </a:tcStyle>
    </a:wholeTbl>
    <a:band1H>
      <a:tcTxStyle/>
      <a:tcStyle>
        <a:tcBdr/>
        <a:fill>
          <a:solidFill>
            <a:srgbClr val="D5DBDE"/>
          </a:solidFill>
        </a:fill>
      </a:tcStyle>
    </a:band1H>
    <a:band2H>
      <a:tcTxStyle/>
      <a:tcStyle>
        <a:tcBdr/>
      </a:tcStyle>
    </a:band2H>
    <a:band1V>
      <a:tcTxStyle/>
      <a:tcStyle>
        <a:tcBdr/>
        <a:fill>
          <a:solidFill>
            <a:srgbClr val="D5DBDE"/>
          </a:solidFill>
        </a:fill>
      </a:tcStyle>
    </a:band1V>
    <a:band2V>
      <a:tcTxStyle/>
      <a:tcStyle>
        <a:tcBdr/>
      </a:tcStyle>
    </a:band2V>
    <a:lastCol>
      <a:tcTxStyle b="on" i="off">
        <a:font>
          <a:latin typeface="Arial"/>
          <a:ea typeface="Arial"/>
          <a:cs typeface="Arial"/>
        </a:font>
        <a:schemeClr val="lt1"/>
      </a:tcTxStyle>
      <a:tcStyle>
        <a:tcBdr/>
        <a:fill>
          <a:solidFill>
            <a:schemeClr val="accent3"/>
          </a:solidFill>
        </a:fill>
      </a:tcStyle>
    </a:lastCol>
    <a:firstCol>
      <a:tcTxStyle b="on" i="off">
        <a:font>
          <a:latin typeface="Arial"/>
          <a:ea typeface="Arial"/>
          <a:cs typeface="Arial"/>
        </a:font>
        <a:schemeClr val="lt1"/>
      </a:tcTxStyle>
      <a:tcStyle>
        <a:tcBdr/>
        <a:fill>
          <a:solidFill>
            <a:schemeClr val="accent3"/>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3"/>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3"/>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77"/>
  </p:normalViewPr>
  <p:slideViewPr>
    <p:cSldViewPr snapToGrid="0">
      <p:cViewPr varScale="1">
        <p:scale>
          <a:sx n="110" d="100"/>
          <a:sy n="110" d="100"/>
        </p:scale>
        <p:origin x="1584" y="4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3.fntdata"/><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1.fntdata"/><Relationship Id="rId8" Type="http://schemas.openxmlformats.org/officeDocument/2006/relationships/slide" Target="slides/slide6.xml"/><Relationship Id="rId51" Type="http://customschemas.google.com/relationships/presentationmetadata" Target="meta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8-13T04:21:32.521"/>
    </inkml:context>
    <inkml:brush xml:id="br0">
      <inkml:brushProperty name="width" value="0.05292" units="cm"/>
      <inkml:brushProperty name="height" value="0.05292" units="cm"/>
      <inkml:brushProperty name="color" value="#FF0000"/>
    </inkml:brush>
  </inkml:definitions>
  <inkml:trace contextRef="#ctx0" brushRef="#br0">25078 12855 0,'0'0'0,"18"0"0,-36 0 484,18-19-484,-19-18 16,19 19-16</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8-13T04:22:26.347"/>
    </inkml:context>
    <inkml:brush xml:id="br0">
      <inkml:brushProperty name="width" value="0.05292" units="cm"/>
      <inkml:brushProperty name="height" value="0.05292" units="cm"/>
      <inkml:brushProperty name="color" value="#FF0000"/>
    </inkml:brush>
  </inkml:definitions>
  <inkml:trace contextRef="#ctx0" brushRef="#br0">2158 8930 0,'-19'0'31,"38"0"219,-19-19-234,19 19-16,-1 0 0,1 0 0,-1 0 16,1 0-16,0 0 0,-1-19 0,1 19 15,-1 0-15,1 0 0,0 0 0,-1 0 16,1 0-16,-1 0 0,1 0 16,0 0-1</inkml:trace>
  <inkml:trace contextRef="#ctx0" brushRef="#br0" timeOffset="233.46">2139 8967 0,'0'0'16,"-55"0"-16,-20 0 15,57 0-15,-1-19 16,38 19 15,-1 0-31,38-18 16,56-1-1,-19-18 1,-56 37-16,0-19 16</inkml:trace>
  <inkml:trace contextRef="#ctx0" brushRef="#br0" timeOffset="399.72">2009 8948 0,'0'0'0,"-18"0"0,-20 0 0,20 0 16,-38 0 0,37 0-1,75 0 1,74 0-1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8-13T04:38:57.264"/>
    </inkml:context>
    <inkml:brush xml:id="br0">
      <inkml:brushProperty name="width" value="0.05292" units="cm"/>
      <inkml:brushProperty name="height" value="0.05292" units="cm"/>
      <inkml:brushProperty name="color" value="#FF0000"/>
    </inkml:brush>
  </inkml:definitions>
  <inkml:trace contextRef="#ctx0" brushRef="#br0">11795 12036 0,'18'0'0,"-36"0"312</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8-13T04:45:01.015"/>
    </inkml:context>
    <inkml:brush xml:id="br0">
      <inkml:brushProperty name="width" value="0.05292" units="cm"/>
      <inkml:brushProperty name="height" value="0.05292" units="cm"/>
      <inkml:brushProperty name="color" value="#FF0000"/>
    </inkml:brush>
  </inkml:definitions>
  <inkml:trace contextRef="#ctx0" brushRef="#br0">11571 13171 0,'0'0'0,"-18"0"16,18-18-16,18 18 94,1 0-79,0 0 1</inkml:trace>
  <inkml:trace contextRef="#ctx0" brushRef="#br0" timeOffset="407.24">13413 13357 0,'0'0'0,"-18"0"16,-20-18-1,38-1 16,19 19-15</inkml:trace>
  <inkml:trace contextRef="#ctx0" brushRef="#br0" timeOffset="708.23">14901 13227 0,'-18'0'16,"36"0"-16,-55 0 15,56 0 17,-1 0-17,1 0-15</inkml:trace>
  <inkml:trace contextRef="#ctx0" brushRef="#br0" timeOffset="940.43">16129 13302 0,'0'0'16,"-18"0"-16,-20 0 0,20 0 15,18 18 17</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39.7093" units="1/cm"/>
          <inkml:channelProperty channel="Y" name="resolution" value="39.79275" units="1/cm"/>
          <inkml:channelProperty channel="T" name="resolution" value="1" units="1/dev"/>
        </inkml:channelProperties>
      </inkml:inkSource>
      <inkml:timestamp xml:id="ts0" timeString="2023-08-13T04:45:09.931"/>
    </inkml:context>
    <inkml:brush xml:id="br0">
      <inkml:brushProperty name="width" value="0.05292" units="cm"/>
      <inkml:brushProperty name="height" value="0.05292" units="cm"/>
      <inkml:brushProperty name="color" value="#FF0000"/>
    </inkml:brush>
  </inkml:definitions>
  <inkml:trace contextRef="#ctx0" brushRef="#br0">15497 11943 0,'0'19'63,"0"0"-1,0-1-46,-19-18-1,38 0 17,-1 0-17,1 0-15,-38 0 47,1 0-31,18-18-1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Welcome to the course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100"/>
              <a:buNone/>
            </a:pPr>
            <a:r>
              <a:rPr lang="en-US"/>
              <a:t>The idea that we learn by interacting with our environment is probably the first to occur to us when we think about the nature of learning. When an infant plays, waves its arms, or looks about, it has no explicit teacher, but it does have a direct sensorimotor connection to its environment.</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Whether we are learning to drive a car or to hold a conversation, we are acutely aware of how our environment responds to what we do, and we seek to influence what happens through our behavior.</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Learning from interaction is a foundational idea underlying nearly all theories of learning and intelligence. We will take a computational approach to learning from interaction.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The specific approach which we use to learn from the environment, which we call as reinforcement learning, is much more focused on goal-directed learning from interaction than are other approaches to machine learning.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In this course, we will look into various kind of experimental setups modelling the agent-environment interaction towards performing goal oriented learning. We will start with very basics, and an elementary model.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This course is a core  course for all of you.  This course will be taught by myself and Dr. Sangeetha Viswanathan.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Clr>
                <a:schemeClr val="dk1"/>
              </a:buClr>
              <a:buSzPts val="1100"/>
              <a:buFont typeface="Arial"/>
              <a:buNone/>
            </a:pPr>
            <a:endParaRPr/>
          </a:p>
          <a:p>
            <a:pPr marL="0" lvl="0" indent="0" algn="l" rtl="0">
              <a:lnSpc>
                <a:spcPct val="100000"/>
              </a:lnSpc>
              <a:spcBef>
                <a:spcPts val="0"/>
              </a:spcBef>
              <a:spcAft>
                <a:spcPts val="0"/>
              </a:spcAft>
              <a:buSzPts val="1400"/>
              <a:buNone/>
            </a:pPr>
            <a:endParaRPr/>
          </a:p>
        </p:txBody>
      </p:sp>
      <p:sp>
        <p:nvSpPr>
          <p:cNvPr id="228" name="Google Shape;2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4" name="Google Shape;234;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3" name="Google Shape;243;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8" name="Google Shape;298;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46462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40f7f18ef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40f7f18ef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240f7f18ef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240f7f18ef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1"/>
        <p:cNvGrpSpPr/>
        <p:nvPr/>
      </p:nvGrpSpPr>
      <p:grpSpPr>
        <a:xfrm>
          <a:off x="0" y="0"/>
          <a:ext cx="0" cy="0"/>
          <a:chOff x="0" y="0"/>
          <a:chExt cx="0" cy="0"/>
        </a:xfrm>
      </p:grpSpPr>
      <p:sp>
        <p:nvSpPr>
          <p:cNvPr id="642" name="Google Shape;642;g240f7f18ef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3" name="Google Shape;643;g240f7f18ef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40f7f18ef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240f7f18ef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p3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1" name="Google Shape;851;p3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2" name="Google Shape;852;p3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400" b="0" i="0" u="none" strike="noStrike" cap="none">
                <a:solidFill>
                  <a:srgbClr val="000000"/>
                </a:solidFill>
                <a:latin typeface="Arial"/>
                <a:ea typeface="Arial"/>
                <a:cs typeface="Arial"/>
                <a:sym typeface="Arial"/>
              </a:rPr>
              <a:t>44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mailto:vimalsp@wilp.bits-pilani.ac.in" TargetMode="External"/><Relationship Id="rId2" Type="http://schemas.openxmlformats.org/officeDocument/2006/relationships/image" Target="../media/image1.gif"/><Relationship Id="rId1" Type="http://schemas.openxmlformats.org/officeDocument/2006/relationships/slideMaster" Target="../slideMasters/slideMaster2.xml"/><Relationship Id="rId5" Type="http://schemas.openxmlformats.org/officeDocument/2006/relationships/image" Target="../media/image2.png"/><Relationship Id="rId4" Type="http://schemas.openxmlformats.org/officeDocument/2006/relationships/hyperlink" Target="mailto:sangeetha.viswanathan@pilani.bits-pilani.ac.in" TargetMode="Externa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9"/>
        <p:cNvGrpSpPr/>
        <p:nvPr/>
      </p:nvGrpSpPr>
      <p:grpSpPr>
        <a:xfrm>
          <a:off x="0" y="0"/>
          <a:ext cx="0" cy="0"/>
          <a:chOff x="0" y="0"/>
          <a:chExt cx="0" cy="0"/>
        </a:xfrm>
      </p:grpSpPr>
      <p:pic>
        <p:nvPicPr>
          <p:cNvPr id="10" name="Google Shape;10;p40" descr="BITS Pilani logo"/>
          <p:cNvPicPr preferRelativeResize="0"/>
          <p:nvPr/>
        </p:nvPicPr>
        <p:blipFill rotWithShape="1">
          <a:blip r:embed="rId2">
            <a:alphaModFix/>
          </a:blip>
          <a:srcRect/>
          <a:stretch/>
        </p:blipFill>
        <p:spPr>
          <a:xfrm>
            <a:off x="6617084" y="197102"/>
            <a:ext cx="2504055" cy="649430"/>
          </a:xfrm>
          <a:prstGeom prst="rect">
            <a:avLst/>
          </a:prstGeom>
          <a:noFill/>
          <a:ln>
            <a:noFill/>
          </a:ln>
        </p:spPr>
      </p:pic>
      <p:pic>
        <p:nvPicPr>
          <p:cNvPr id="12" name="Google Shape;12;p40"/>
          <p:cNvPicPr preferRelativeResize="0"/>
          <p:nvPr/>
        </p:nvPicPr>
        <p:blipFill rotWithShape="1">
          <a:blip r:embed="rId3">
            <a:alphaModFix/>
          </a:blip>
          <a:srcRect/>
          <a:stretch/>
        </p:blipFill>
        <p:spPr>
          <a:xfrm>
            <a:off x="0" y="0"/>
            <a:ext cx="4186242" cy="5143500"/>
          </a:xfrm>
          <a:prstGeom prst="rect">
            <a:avLst/>
          </a:prstGeom>
          <a:noFill/>
          <a:ln>
            <a:noFill/>
          </a:ln>
        </p:spPr>
      </p:pic>
      <p:sp>
        <p:nvSpPr>
          <p:cNvPr id="13" name="Google Shape;13;p40"/>
          <p:cNvSpPr txBox="1">
            <a:spLocks noGrp="1"/>
          </p:cNvSpPr>
          <p:nvPr>
            <p:ph type="ctrTitle"/>
          </p:nvPr>
        </p:nvSpPr>
        <p:spPr>
          <a:xfrm>
            <a:off x="1400993" y="2419895"/>
            <a:ext cx="7117500" cy="95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700"/>
              <a:buFont typeface="Calibri"/>
              <a:buNone/>
              <a:defRPr sz="2700" cap="none">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40"/>
          <p:cNvSpPr txBox="1"/>
          <p:nvPr/>
        </p:nvSpPr>
        <p:spPr>
          <a:xfrm>
            <a:off x="48394" y="790425"/>
            <a:ext cx="3147000" cy="682200"/>
          </a:xfrm>
          <a:prstGeom prst="rect">
            <a:avLst/>
          </a:prstGeom>
          <a:noFill/>
          <a:ln>
            <a:noFill/>
          </a:ln>
        </p:spPr>
        <p:txBody>
          <a:bodyPr spcFirstLastPara="1" wrap="square" lIns="68575" tIns="34275" rIns="68575" bIns="34275" anchor="t" anchorCtr="0">
            <a:normAutofit fontScale="92500"/>
          </a:bodyPr>
          <a:lstStyle/>
          <a:p>
            <a:pPr marL="0" marR="0" lvl="0" indent="0" algn="r" rtl="0">
              <a:lnSpc>
                <a:spcPct val="90000"/>
              </a:lnSpc>
              <a:spcBef>
                <a:spcPts val="0"/>
              </a:spcBef>
              <a:spcAft>
                <a:spcPts val="0"/>
              </a:spcAft>
              <a:buClr>
                <a:schemeClr val="dk1"/>
              </a:buClr>
              <a:buSzPct val="64864"/>
              <a:buFont typeface="Arial"/>
              <a:buNone/>
            </a:pPr>
            <a:r>
              <a:rPr lang="en-US" sz="2000" b="0" i="0" u="none" strike="noStrike" cap="none" dirty="0">
                <a:solidFill>
                  <a:schemeClr val="dk1"/>
                </a:solidFill>
                <a:latin typeface="Calibri"/>
                <a:ea typeface="Calibri"/>
                <a:cs typeface="Calibri"/>
                <a:sym typeface="Calibri"/>
              </a:rPr>
              <a:t>Deep Reinforcement Learning</a:t>
            </a:r>
            <a:endParaRPr sz="2000" b="0" i="0" u="none" strike="noStrike" cap="none" dirty="0">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ct val="99792"/>
              <a:buFont typeface="Arial"/>
              <a:buNone/>
            </a:pPr>
            <a:r>
              <a:rPr lang="en-US" sz="1300" b="0" i="0" u="none" strike="noStrike" cap="none" dirty="0">
                <a:solidFill>
                  <a:schemeClr val="dk1"/>
                </a:solidFill>
                <a:latin typeface="Calibri"/>
                <a:ea typeface="Calibri"/>
                <a:cs typeface="Calibri"/>
                <a:sym typeface="Calibri"/>
              </a:rPr>
              <a:t>2024-25 Second Semester, </a:t>
            </a:r>
            <a:r>
              <a:rPr lang="en-US" sz="1300" b="0" i="0" u="none" strike="noStrike" cap="none" dirty="0" err="1">
                <a:solidFill>
                  <a:schemeClr val="dk1"/>
                </a:solidFill>
                <a:latin typeface="Calibri"/>
                <a:ea typeface="Calibri"/>
                <a:cs typeface="Calibri"/>
                <a:sym typeface="Calibri"/>
              </a:rPr>
              <a:t>M.Tech</a:t>
            </a:r>
            <a:r>
              <a:rPr lang="en-US" sz="1300" b="0" i="0" u="none" strike="noStrike" cap="none" dirty="0">
                <a:solidFill>
                  <a:schemeClr val="dk1"/>
                </a:solidFill>
                <a:latin typeface="Calibri"/>
                <a:ea typeface="Calibri"/>
                <a:cs typeface="Calibri"/>
                <a:sym typeface="Calibri"/>
              </a:rPr>
              <a:t> (AIML)   </a:t>
            </a:r>
            <a:endParaRPr sz="11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15"/>
        <p:cNvGrpSpPr/>
        <p:nvPr/>
      </p:nvGrpSpPr>
      <p:grpSpPr>
        <a:xfrm>
          <a:off x="0" y="0"/>
          <a:ext cx="0" cy="0"/>
          <a:chOff x="0" y="0"/>
          <a:chExt cx="0" cy="0"/>
        </a:xfrm>
      </p:grpSpPr>
      <p:sp>
        <p:nvSpPr>
          <p:cNvPr id="16" name="Google Shape;16;p41"/>
          <p:cNvSpPr txBox="1">
            <a:spLocks noGrp="1"/>
          </p:cNvSpPr>
          <p:nvPr>
            <p:ph type="title"/>
          </p:nvPr>
        </p:nvSpPr>
        <p:spPr>
          <a:xfrm>
            <a:off x="628650" y="273844"/>
            <a:ext cx="7886700" cy="9348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3000"/>
              <a:buFont typeface="Calibri"/>
              <a:buNone/>
              <a:defRPr sz="3000" b="1"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4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7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18" name="Google Shape;18;p4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41" descr="Birla Institute of Technology and Science, Pilani | Logopedia | Fandom"/>
          <p:cNvPicPr preferRelativeResize="0"/>
          <p:nvPr/>
        </p:nvPicPr>
        <p:blipFill rotWithShape="1">
          <a:blip r:embed="rId2">
            <a:alphaModFix/>
          </a:blip>
          <a:srcRect/>
          <a:stretch/>
        </p:blipFill>
        <p:spPr>
          <a:xfrm>
            <a:off x="0" y="-9391"/>
            <a:ext cx="528638" cy="528638"/>
          </a:xfrm>
          <a:prstGeom prst="rect">
            <a:avLst/>
          </a:prstGeom>
          <a:noFill/>
          <a:ln>
            <a:noFill/>
          </a:ln>
        </p:spPr>
      </p:pic>
      <p:sp>
        <p:nvSpPr>
          <p:cNvPr id="20" name="Google Shape;20;p41"/>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4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4" name="Google Shape;24;p42"/>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5" name="Google Shape;25;p42"/>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SzPts val="1400"/>
              <a:buNone/>
              <a:defRPr sz="1400" b="0" i="0" u="none" strike="noStrike" cap="none">
                <a:solidFill>
                  <a:srgbClr val="000000"/>
                </a:solidFill>
                <a:latin typeface="Arial"/>
                <a:ea typeface="Arial"/>
                <a:cs typeface="Arial"/>
                <a:sym typeface="Arial"/>
              </a:defRPr>
            </a:lvl9pPr>
          </a:lstStyle>
          <a:p>
            <a:endParaRPr/>
          </a:p>
        </p:txBody>
      </p:sp>
      <p:sp>
        <p:nvSpPr>
          <p:cNvPr id="26" name="Google Shape;26;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lvl="0" indent="0" algn="r">
              <a:lnSpc>
                <a:spcPct val="100000"/>
              </a:lnSpc>
              <a:spcBef>
                <a:spcPts val="0"/>
              </a:spcBef>
              <a:spcAft>
                <a:spcPts val="0"/>
              </a:spcAft>
              <a:buSzPts val="1000"/>
              <a:buNone/>
              <a:defRPr/>
            </a:lvl1pPr>
            <a:lvl2pPr marL="0" lvl="1" indent="0" algn="r">
              <a:lnSpc>
                <a:spcPct val="100000"/>
              </a:lnSpc>
              <a:spcBef>
                <a:spcPts val="0"/>
              </a:spcBef>
              <a:spcAft>
                <a:spcPts val="0"/>
              </a:spcAft>
              <a:buSzPts val="1000"/>
              <a:buNone/>
              <a:defRPr/>
            </a:lvl2pPr>
            <a:lvl3pPr marL="0" lvl="2" indent="0" algn="r">
              <a:lnSpc>
                <a:spcPct val="100000"/>
              </a:lnSpc>
              <a:spcBef>
                <a:spcPts val="0"/>
              </a:spcBef>
              <a:spcAft>
                <a:spcPts val="0"/>
              </a:spcAft>
              <a:buSzPts val="1000"/>
              <a:buNone/>
              <a:defRPr/>
            </a:lvl3pPr>
            <a:lvl4pPr marL="0" lvl="3" indent="0" algn="r">
              <a:lnSpc>
                <a:spcPct val="100000"/>
              </a:lnSpc>
              <a:spcBef>
                <a:spcPts val="0"/>
              </a:spcBef>
              <a:spcAft>
                <a:spcPts val="0"/>
              </a:spcAft>
              <a:buSzPts val="1000"/>
              <a:buNone/>
              <a:defRPr/>
            </a:lvl4pPr>
            <a:lvl5pPr marL="0" lvl="4" indent="0" algn="r">
              <a:lnSpc>
                <a:spcPct val="100000"/>
              </a:lnSpc>
              <a:spcBef>
                <a:spcPts val="0"/>
              </a:spcBef>
              <a:spcAft>
                <a:spcPts val="0"/>
              </a:spcAft>
              <a:buSzPts val="1000"/>
              <a:buNone/>
              <a:defRPr/>
            </a:lvl5pPr>
            <a:lvl6pPr marL="0" lvl="5" indent="0" algn="r">
              <a:lnSpc>
                <a:spcPct val="100000"/>
              </a:lnSpc>
              <a:spcBef>
                <a:spcPts val="0"/>
              </a:spcBef>
              <a:spcAft>
                <a:spcPts val="0"/>
              </a:spcAft>
              <a:buSzPts val="1000"/>
              <a:buNone/>
              <a:defRPr/>
            </a:lvl6pPr>
            <a:lvl7pPr marL="0" lvl="6" indent="0" algn="r">
              <a:lnSpc>
                <a:spcPct val="100000"/>
              </a:lnSpc>
              <a:spcBef>
                <a:spcPts val="0"/>
              </a:spcBef>
              <a:spcAft>
                <a:spcPts val="0"/>
              </a:spcAft>
              <a:buSzPts val="1000"/>
              <a:buNone/>
              <a:defRPr/>
            </a:lvl7pPr>
            <a:lvl8pPr marL="0" lvl="7" indent="0" algn="r">
              <a:lnSpc>
                <a:spcPct val="100000"/>
              </a:lnSpc>
              <a:spcBef>
                <a:spcPts val="0"/>
              </a:spcBef>
              <a:spcAft>
                <a:spcPts val="0"/>
              </a:spcAft>
              <a:buSzPts val="1000"/>
              <a:buNone/>
              <a:defRPr/>
            </a:lvl8pPr>
            <a:lvl9pPr marL="0" lvl="8" indent="0" algn="r">
              <a:lnSpc>
                <a:spcPct val="100000"/>
              </a:lnSpc>
              <a:spcBef>
                <a:spcPts val="0"/>
              </a:spcBef>
              <a:spcAft>
                <a:spcPts val="0"/>
              </a:spcAft>
              <a:buSzPts val="1000"/>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7"/>
        <p:cNvGrpSpPr/>
        <p:nvPr/>
      </p:nvGrpSpPr>
      <p:grpSpPr>
        <a:xfrm>
          <a:off x="0" y="0"/>
          <a:ext cx="0" cy="0"/>
          <a:chOff x="0" y="0"/>
          <a:chExt cx="0" cy="0"/>
        </a:xfrm>
      </p:grpSpPr>
      <p:sp>
        <p:nvSpPr>
          <p:cNvPr id="28" name="Google Shape;28;p4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29" name="Google Shape;29;p4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30" name="Google Shape;3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4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3" name="Google Shape;33;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7" name="Google Shape;37;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4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0" name="Google Shape;40;p4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1" name="Google Shape;41;p4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2" name="Google Shape;4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5" name="Google Shape;45;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6"/>
        <p:cNvGrpSpPr/>
        <p:nvPr/>
      </p:nvGrpSpPr>
      <p:grpSpPr>
        <a:xfrm>
          <a:off x="0" y="0"/>
          <a:ext cx="0" cy="0"/>
          <a:chOff x="0" y="0"/>
          <a:chExt cx="0" cy="0"/>
        </a:xfrm>
      </p:grpSpPr>
      <p:sp>
        <p:nvSpPr>
          <p:cNvPr id="47" name="Google Shape;47;p5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8" name="Google Shape;48;p5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9" name="Google Shape;49;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0"/>
        <p:cNvGrpSpPr/>
        <p:nvPr/>
      </p:nvGrpSpPr>
      <p:grpSpPr>
        <a:xfrm>
          <a:off x="0" y="0"/>
          <a:ext cx="0" cy="0"/>
          <a:chOff x="0" y="0"/>
          <a:chExt cx="0" cy="0"/>
        </a:xfrm>
      </p:grpSpPr>
      <p:sp>
        <p:nvSpPr>
          <p:cNvPr id="51" name="Google Shape;51;p5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2" name="Google Shape;52;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3"/>
        <p:cNvGrpSpPr/>
        <p:nvPr/>
      </p:nvGrpSpPr>
      <p:grpSpPr>
        <a:xfrm>
          <a:off x="0" y="0"/>
          <a:ext cx="0" cy="0"/>
          <a:chOff x="0" y="0"/>
          <a:chExt cx="0" cy="0"/>
        </a:xfrm>
      </p:grpSpPr>
      <p:sp>
        <p:nvSpPr>
          <p:cNvPr id="54" name="Google Shape;54;p5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5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6" name="Google Shape;56;p5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7" name="Google Shape;57;p5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8" name="Google Shape;58;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sp>
        <p:nvSpPr>
          <p:cNvPr id="60" name="Google Shape;60;p5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1" name="Google Shape;61;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2"/>
        <p:cNvGrpSpPr/>
        <p:nvPr/>
      </p:nvGrpSpPr>
      <p:grpSpPr>
        <a:xfrm>
          <a:off x="0" y="0"/>
          <a:ext cx="0" cy="0"/>
          <a:chOff x="0" y="0"/>
          <a:chExt cx="0" cy="0"/>
        </a:xfrm>
      </p:grpSpPr>
      <p:sp>
        <p:nvSpPr>
          <p:cNvPr id="63" name="Google Shape;63;p5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4" name="Google Shape;64;p5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5" name="Google Shape;65;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hart">
  <p:cSld name="Chart">
    <p:bg>
      <p:bgPr>
        <a:solidFill>
          <a:schemeClr val="accent1"/>
        </a:solidFill>
        <a:effectLst/>
      </p:bgPr>
    </p:bg>
    <p:spTree>
      <p:nvGrpSpPr>
        <p:cNvPr id="1" name="Shape 73"/>
        <p:cNvGrpSpPr/>
        <p:nvPr/>
      </p:nvGrpSpPr>
      <p:grpSpPr>
        <a:xfrm>
          <a:off x="0" y="0"/>
          <a:ext cx="0" cy="0"/>
          <a:chOff x="0" y="0"/>
          <a:chExt cx="0" cy="0"/>
        </a:xfrm>
      </p:grpSpPr>
      <p:sp>
        <p:nvSpPr>
          <p:cNvPr id="74" name="Google Shape;74;p44"/>
          <p:cNvSpPr txBox="1">
            <a:spLocks noGrp="1"/>
          </p:cNvSpPr>
          <p:nvPr>
            <p:ph type="title"/>
          </p:nvPr>
        </p:nvSpPr>
        <p:spPr>
          <a:xfrm>
            <a:off x="628650" y="273844"/>
            <a:ext cx="7886700" cy="9351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4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6" name="Google Shape;76;p4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77" name="Google Shape;77;p44"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78" name="Google Shape;78;p44"/>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79"/>
        <p:cNvGrpSpPr/>
        <p:nvPr/>
      </p:nvGrpSpPr>
      <p:grpSpPr>
        <a:xfrm>
          <a:off x="0" y="0"/>
          <a:ext cx="0" cy="0"/>
          <a:chOff x="0" y="0"/>
          <a:chExt cx="0" cy="0"/>
        </a:xfrm>
      </p:grpSpPr>
      <p:pic>
        <p:nvPicPr>
          <p:cNvPr id="80" name="Google Shape;80;p45"/>
          <p:cNvPicPr preferRelativeResize="0"/>
          <p:nvPr/>
        </p:nvPicPr>
        <p:blipFill rotWithShape="1">
          <a:blip r:embed="rId2">
            <a:alphaModFix/>
          </a:blip>
          <a:srcRect/>
          <a:stretch/>
        </p:blipFill>
        <p:spPr>
          <a:xfrm>
            <a:off x="0" y="0"/>
            <a:ext cx="4186242" cy="5143500"/>
          </a:xfrm>
          <a:prstGeom prst="rect">
            <a:avLst/>
          </a:prstGeom>
          <a:noFill/>
          <a:ln>
            <a:noFill/>
          </a:ln>
        </p:spPr>
      </p:pic>
      <p:sp>
        <p:nvSpPr>
          <p:cNvPr id="81" name="Google Shape;81;p45"/>
          <p:cNvSpPr txBox="1">
            <a:spLocks noGrp="1"/>
          </p:cNvSpPr>
          <p:nvPr>
            <p:ph type="title"/>
          </p:nvPr>
        </p:nvSpPr>
        <p:spPr>
          <a:xfrm>
            <a:off x="3493293" y="2107406"/>
            <a:ext cx="5022000" cy="14325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2" name="Google Shape;82;p45"/>
          <p:cNvSpPr txBox="1">
            <a:spLocks noGrp="1"/>
          </p:cNvSpPr>
          <p:nvPr>
            <p:ph type="subTitle" idx="1"/>
          </p:nvPr>
        </p:nvSpPr>
        <p:spPr>
          <a:xfrm>
            <a:off x="3493294" y="3771602"/>
            <a:ext cx="5022000" cy="273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800"/>
              </a:spcBef>
              <a:spcAft>
                <a:spcPts val="0"/>
              </a:spcAft>
              <a:buClr>
                <a:srgbClr val="757070"/>
              </a:buClr>
              <a:buSzPts val="1200"/>
              <a:buNone/>
              <a:defRPr sz="1200">
                <a:solidFill>
                  <a:srgbClr val="757070"/>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83" name="Google Shape;83;p45"/>
          <p:cNvSpPr txBox="1">
            <a:spLocks noGrp="1"/>
          </p:cNvSpPr>
          <p:nvPr>
            <p:ph type="ftr" idx="11"/>
          </p:nvPr>
        </p:nvSpPr>
        <p:spPr>
          <a:xfrm>
            <a:off x="5057774" y="4767263"/>
            <a:ext cx="19074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45"/>
          <p:cNvSpPr txBox="1">
            <a:spLocks noGrp="1"/>
          </p:cNvSpPr>
          <p:nvPr>
            <p:ph type="sldNum" idx="12"/>
          </p:nvPr>
        </p:nvSpPr>
        <p:spPr>
          <a:xfrm>
            <a:off x="7243763" y="4767263"/>
            <a:ext cx="1271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85" name="Google Shape;85;p45" descr="BITS Pilani logo"/>
          <p:cNvPicPr preferRelativeResize="0"/>
          <p:nvPr/>
        </p:nvPicPr>
        <p:blipFill rotWithShape="1">
          <a:blip r:embed="rId3">
            <a:alphaModFix/>
          </a:blip>
          <a:srcRect/>
          <a:stretch/>
        </p:blipFill>
        <p:spPr>
          <a:xfrm>
            <a:off x="6627529" y="144383"/>
            <a:ext cx="2504055" cy="64943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6"/>
        <p:cNvGrpSpPr/>
        <p:nvPr/>
      </p:nvGrpSpPr>
      <p:grpSpPr>
        <a:xfrm>
          <a:off x="0" y="0"/>
          <a:ext cx="0" cy="0"/>
          <a:chOff x="0" y="0"/>
          <a:chExt cx="0" cy="0"/>
        </a:xfrm>
      </p:grpSpPr>
      <p:pic>
        <p:nvPicPr>
          <p:cNvPr id="87" name="Google Shape;87;p57" descr="BITS Pilani logo"/>
          <p:cNvPicPr preferRelativeResize="0"/>
          <p:nvPr/>
        </p:nvPicPr>
        <p:blipFill rotWithShape="1">
          <a:blip r:embed="rId2">
            <a:alphaModFix/>
          </a:blip>
          <a:srcRect/>
          <a:stretch/>
        </p:blipFill>
        <p:spPr>
          <a:xfrm>
            <a:off x="6617084" y="197102"/>
            <a:ext cx="2504055" cy="649430"/>
          </a:xfrm>
          <a:prstGeom prst="rect">
            <a:avLst/>
          </a:prstGeom>
          <a:noFill/>
          <a:ln>
            <a:noFill/>
          </a:ln>
        </p:spPr>
      </p:pic>
      <p:sp>
        <p:nvSpPr>
          <p:cNvPr id="88" name="Google Shape;88;p57"/>
          <p:cNvSpPr txBox="1"/>
          <p:nvPr/>
        </p:nvSpPr>
        <p:spPr>
          <a:xfrm>
            <a:off x="3276900" y="4287169"/>
            <a:ext cx="5414700" cy="649500"/>
          </a:xfrm>
          <a:prstGeom prst="rect">
            <a:avLst/>
          </a:prstGeom>
          <a:noFill/>
          <a:ln>
            <a:noFill/>
          </a:ln>
        </p:spPr>
        <p:txBody>
          <a:bodyPr spcFirstLastPara="1" wrap="square" lIns="68575" tIns="34275" rIns="68575" bIns="34275" anchor="t" anchorCtr="0">
            <a:normAutofit/>
          </a:bodyPr>
          <a:lstStyle/>
          <a:p>
            <a:pPr marL="0" marR="0" lvl="0" indent="0" algn="l" rtl="0">
              <a:lnSpc>
                <a:spcPct val="90000"/>
              </a:lnSpc>
              <a:spcBef>
                <a:spcPts val="0"/>
              </a:spcBef>
              <a:spcAft>
                <a:spcPts val="0"/>
              </a:spcAft>
              <a:buClr>
                <a:schemeClr val="dk1"/>
              </a:buClr>
              <a:buSzPts val="1200"/>
              <a:buFont typeface="Arial"/>
              <a:buNone/>
            </a:pPr>
            <a:r>
              <a:rPr lang="en-US" sz="1200" b="1" i="0" u="none" strike="noStrike" cap="none">
                <a:solidFill>
                  <a:schemeClr val="dk1"/>
                </a:solidFill>
                <a:latin typeface="Calibri"/>
                <a:ea typeface="Calibri"/>
                <a:cs typeface="Calibri"/>
                <a:sym typeface="Calibri"/>
              </a:rPr>
              <a:t>Instructors</a:t>
            </a:r>
            <a:r>
              <a:rPr lang="en-US" sz="1200" b="0" i="0" u="none" strike="noStrike" cap="none">
                <a:solidFill>
                  <a:schemeClr val="dk1"/>
                </a:solidFill>
                <a:latin typeface="Calibri"/>
                <a:ea typeface="Calibri"/>
                <a:cs typeface="Calibri"/>
                <a:sym typeface="Calibri"/>
              </a:rPr>
              <a:t> : </a:t>
            </a:r>
            <a:endParaRPr sz="1200" b="0" i="0" u="none" strike="noStrike" cap="none">
              <a:solidFill>
                <a:schemeClr val="dk1"/>
              </a:solidFill>
              <a:latin typeface="Calibri"/>
              <a:ea typeface="Calibri"/>
              <a:cs typeface="Calibri"/>
              <a:sym typeface="Calibri"/>
            </a:endParaRPr>
          </a:p>
          <a:p>
            <a:pPr marL="342900" marR="0" lvl="0" indent="-241300" algn="l" rtl="0">
              <a:lnSpc>
                <a:spcPct val="90000"/>
              </a:lnSpc>
              <a:spcBef>
                <a:spcPts val="0"/>
              </a:spcBef>
              <a:spcAft>
                <a:spcPts val="0"/>
              </a:spcAft>
              <a:buClr>
                <a:srgbClr val="000000"/>
              </a:buClr>
              <a:buSzPts val="1200"/>
              <a:buFont typeface="Calibri"/>
              <a:buAutoNum type="arabicPeriod"/>
            </a:pPr>
            <a:r>
              <a:rPr lang="en-US" sz="1200" b="0" i="0" u="none" strike="noStrike" cap="none">
                <a:solidFill>
                  <a:schemeClr val="dk1"/>
                </a:solidFill>
                <a:latin typeface="Calibri"/>
                <a:ea typeface="Calibri"/>
                <a:cs typeface="Calibri"/>
                <a:sym typeface="Calibri"/>
              </a:rPr>
              <a:t>Prof. S. P. Vimal (</a:t>
            </a:r>
            <a:r>
              <a:rPr lang="en-US" sz="1200" b="0" i="0" u="sng" strike="noStrike" cap="none">
                <a:solidFill>
                  <a:schemeClr val="hlink"/>
                </a:solidFill>
                <a:latin typeface="Calibri"/>
                <a:ea typeface="Calibri"/>
                <a:cs typeface="Calibri"/>
                <a:sym typeface="Calibri"/>
                <a:hlinkClick r:id="rId3"/>
              </a:rPr>
              <a:t>vimalsp@wilp.bits-pilani.ac.in</a:t>
            </a:r>
            <a:r>
              <a:rPr lang="en-US" sz="1200" b="0" i="0" u="none" strike="noStrike" cap="none">
                <a:solidFill>
                  <a:schemeClr val="dk1"/>
                </a:solidFill>
                <a:latin typeface="Calibri"/>
                <a:ea typeface="Calibri"/>
                <a:cs typeface="Calibri"/>
                <a:sym typeface="Calibri"/>
              </a:rPr>
              <a:t>), </a:t>
            </a:r>
            <a:endParaRPr sz="1200" b="0" i="0" u="none" strike="noStrike" cap="none">
              <a:solidFill>
                <a:schemeClr val="dk1"/>
              </a:solidFill>
              <a:latin typeface="Calibri"/>
              <a:ea typeface="Calibri"/>
              <a:cs typeface="Calibri"/>
              <a:sym typeface="Calibri"/>
            </a:endParaRPr>
          </a:p>
          <a:p>
            <a:pPr marL="342900" marR="0" lvl="0" indent="-241300" algn="l" rtl="0">
              <a:lnSpc>
                <a:spcPct val="90000"/>
              </a:lnSpc>
              <a:spcBef>
                <a:spcPts val="0"/>
              </a:spcBef>
              <a:spcAft>
                <a:spcPts val="0"/>
              </a:spcAft>
              <a:buClr>
                <a:srgbClr val="000000"/>
              </a:buClr>
              <a:buSzPts val="1200"/>
              <a:buFont typeface="Calibri"/>
              <a:buAutoNum type="arabicPeriod"/>
            </a:pPr>
            <a:r>
              <a:rPr lang="en-US" sz="1200" b="0" i="0" u="none" strike="noStrike" cap="none">
                <a:solidFill>
                  <a:schemeClr val="dk1"/>
                </a:solidFill>
                <a:latin typeface="Calibri"/>
                <a:ea typeface="Calibri"/>
                <a:cs typeface="Calibri"/>
                <a:sym typeface="Calibri"/>
              </a:rPr>
              <a:t>Prof. Sangeetha Viswanathan (</a:t>
            </a:r>
            <a:r>
              <a:rPr lang="en-US" sz="1200" b="0" i="0" u="sng" strike="noStrike" cap="none">
                <a:solidFill>
                  <a:schemeClr val="hlink"/>
                </a:solidFill>
                <a:latin typeface="Calibri"/>
                <a:ea typeface="Calibri"/>
                <a:cs typeface="Calibri"/>
                <a:sym typeface="Calibri"/>
                <a:hlinkClick r:id="rId4"/>
              </a:rPr>
              <a:t>sangeetha.viswanathan@pilani.bits-pilani.ac.in</a:t>
            </a:r>
            <a:r>
              <a:rPr lang="en-US" sz="1200" b="0" i="0" u="none" strike="noStrike" cap="none">
                <a:solidFill>
                  <a:schemeClr val="dk1"/>
                </a:solidFill>
                <a:latin typeface="Calibri"/>
                <a:ea typeface="Calibri"/>
                <a:cs typeface="Calibri"/>
                <a:sym typeface="Calibri"/>
              </a:rPr>
              <a:t>) </a:t>
            </a:r>
            <a:endParaRPr sz="1100" b="0" i="0" u="none" strike="noStrike" cap="none">
              <a:solidFill>
                <a:srgbClr val="000000"/>
              </a:solidFill>
              <a:latin typeface="Arial"/>
              <a:ea typeface="Arial"/>
              <a:cs typeface="Arial"/>
              <a:sym typeface="Arial"/>
            </a:endParaRPr>
          </a:p>
        </p:txBody>
      </p:sp>
      <p:pic>
        <p:nvPicPr>
          <p:cNvPr id="89" name="Google Shape;89;p57"/>
          <p:cNvPicPr preferRelativeResize="0"/>
          <p:nvPr/>
        </p:nvPicPr>
        <p:blipFill rotWithShape="1">
          <a:blip r:embed="rId5">
            <a:alphaModFix/>
          </a:blip>
          <a:srcRect/>
          <a:stretch/>
        </p:blipFill>
        <p:spPr>
          <a:xfrm>
            <a:off x="0" y="0"/>
            <a:ext cx="4186242" cy="5143500"/>
          </a:xfrm>
          <a:prstGeom prst="rect">
            <a:avLst/>
          </a:prstGeom>
          <a:noFill/>
          <a:ln>
            <a:noFill/>
          </a:ln>
        </p:spPr>
      </p:pic>
      <p:sp>
        <p:nvSpPr>
          <p:cNvPr id="90" name="Google Shape;90;p57"/>
          <p:cNvSpPr txBox="1">
            <a:spLocks noGrp="1"/>
          </p:cNvSpPr>
          <p:nvPr>
            <p:ph type="ctrTitle"/>
          </p:nvPr>
        </p:nvSpPr>
        <p:spPr>
          <a:xfrm>
            <a:off x="1400993" y="2419895"/>
            <a:ext cx="7117500" cy="9552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700"/>
              <a:buFont typeface="Calibri"/>
              <a:buNone/>
              <a:defRPr sz="2700" cap="none">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57"/>
          <p:cNvSpPr txBox="1"/>
          <p:nvPr/>
        </p:nvSpPr>
        <p:spPr>
          <a:xfrm>
            <a:off x="48394" y="790425"/>
            <a:ext cx="3147000" cy="682200"/>
          </a:xfrm>
          <a:prstGeom prst="rect">
            <a:avLst/>
          </a:prstGeom>
          <a:noFill/>
          <a:ln>
            <a:noFill/>
          </a:ln>
        </p:spPr>
        <p:txBody>
          <a:bodyPr spcFirstLastPara="1" wrap="square" lIns="68575" tIns="34275" rIns="68575" bIns="34275" anchor="t" anchorCtr="0">
            <a:normAutofit fontScale="92500"/>
          </a:bodyPr>
          <a:lstStyle/>
          <a:p>
            <a:pPr marL="0" marR="0" lvl="0" indent="0" algn="r" rtl="0">
              <a:lnSpc>
                <a:spcPct val="90000"/>
              </a:lnSpc>
              <a:spcBef>
                <a:spcPts val="0"/>
              </a:spcBef>
              <a:spcAft>
                <a:spcPts val="0"/>
              </a:spcAft>
              <a:buClr>
                <a:schemeClr val="dk1"/>
              </a:buClr>
              <a:buSzPct val="64864"/>
              <a:buFont typeface="Arial"/>
              <a:buNone/>
            </a:pPr>
            <a:r>
              <a:rPr lang="en-US" sz="2000" b="0" i="0" u="none" strike="noStrike" cap="none">
                <a:solidFill>
                  <a:schemeClr val="dk1"/>
                </a:solidFill>
                <a:latin typeface="Calibri"/>
                <a:ea typeface="Calibri"/>
                <a:cs typeface="Calibri"/>
                <a:sym typeface="Calibri"/>
              </a:rPr>
              <a:t>Deep Reinforcement Learning</a:t>
            </a:r>
            <a:endParaRPr sz="2000" b="0" i="0" u="none" strike="noStrike" cap="none">
              <a:solidFill>
                <a:schemeClr val="dk1"/>
              </a:solidFill>
              <a:latin typeface="Calibri"/>
              <a:ea typeface="Calibri"/>
              <a:cs typeface="Calibri"/>
              <a:sym typeface="Calibri"/>
            </a:endParaRPr>
          </a:p>
          <a:p>
            <a:pPr marL="0" marR="0" lvl="0" indent="0" algn="r" rtl="0">
              <a:lnSpc>
                <a:spcPct val="90000"/>
              </a:lnSpc>
              <a:spcBef>
                <a:spcPts val="0"/>
              </a:spcBef>
              <a:spcAft>
                <a:spcPts val="0"/>
              </a:spcAft>
              <a:buClr>
                <a:schemeClr val="dk1"/>
              </a:buClr>
              <a:buSzPct val="99792"/>
              <a:buFont typeface="Arial"/>
              <a:buNone/>
            </a:pPr>
            <a:r>
              <a:rPr lang="en-US" sz="1300" b="0" i="0" u="none" strike="noStrike" cap="none">
                <a:solidFill>
                  <a:schemeClr val="dk1"/>
                </a:solidFill>
                <a:latin typeface="Calibri"/>
                <a:ea typeface="Calibri"/>
                <a:cs typeface="Calibri"/>
                <a:sym typeface="Calibri"/>
              </a:rPr>
              <a:t>2022-23 Second Semester, M.Tech (AIML)   </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able">
  <p:cSld name="Table">
    <p:bg>
      <p:bgPr>
        <a:solidFill>
          <a:schemeClr val="lt1"/>
        </a:solidFill>
        <a:effectLst/>
      </p:bgPr>
    </p:bg>
    <p:spTree>
      <p:nvGrpSpPr>
        <p:cNvPr id="1" name="Shape 92"/>
        <p:cNvGrpSpPr/>
        <p:nvPr/>
      </p:nvGrpSpPr>
      <p:grpSpPr>
        <a:xfrm>
          <a:off x="0" y="0"/>
          <a:ext cx="0" cy="0"/>
          <a:chOff x="0" y="0"/>
          <a:chExt cx="0" cy="0"/>
        </a:xfrm>
      </p:grpSpPr>
      <p:sp>
        <p:nvSpPr>
          <p:cNvPr id="93" name="Google Shape;93;p58"/>
          <p:cNvSpPr txBox="1">
            <a:spLocks noGrp="1"/>
          </p:cNvSpPr>
          <p:nvPr>
            <p:ph type="title"/>
          </p:nvPr>
        </p:nvSpPr>
        <p:spPr>
          <a:xfrm>
            <a:off x="628650" y="273844"/>
            <a:ext cx="7886700" cy="9348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3000"/>
              <a:buFont typeface="Calibri"/>
              <a:buNone/>
              <a:defRPr sz="3000" b="1"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4" name="Google Shape;94;p5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5" name="Google Shape;95;p5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96" name="Google Shape;96;p58"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97" name="Google Shape;97;p58"/>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mart Art">
  <p:cSld name="Smart Art">
    <p:bg>
      <p:bgPr>
        <a:solidFill>
          <a:schemeClr val="lt1"/>
        </a:solidFill>
        <a:effectLst/>
      </p:bgPr>
    </p:bg>
    <p:spTree>
      <p:nvGrpSpPr>
        <p:cNvPr id="1" name="Shape 98"/>
        <p:cNvGrpSpPr/>
        <p:nvPr/>
      </p:nvGrpSpPr>
      <p:grpSpPr>
        <a:xfrm>
          <a:off x="0" y="0"/>
          <a:ext cx="0" cy="0"/>
          <a:chOff x="0" y="0"/>
          <a:chExt cx="0" cy="0"/>
        </a:xfrm>
      </p:grpSpPr>
      <p:sp>
        <p:nvSpPr>
          <p:cNvPr id="99" name="Google Shape;99;p59"/>
          <p:cNvSpPr txBox="1">
            <a:spLocks noGrp="1"/>
          </p:cNvSpPr>
          <p:nvPr>
            <p:ph type="title"/>
          </p:nvPr>
        </p:nvSpPr>
        <p:spPr>
          <a:xfrm>
            <a:off x="628650" y="273844"/>
            <a:ext cx="7650000" cy="7710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0" name="Google Shape;100;p5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1" name="Google Shape;101;p5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02" name="Google Shape;102;p59"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103" name="Google Shape;103;p59"/>
          <p:cNvSpPr txBox="1">
            <a:spLocks noGrp="1"/>
          </p:cNvSpPr>
          <p:nvPr>
            <p:ph type="body" idx="1"/>
          </p:nvPr>
        </p:nvSpPr>
        <p:spPr>
          <a:xfrm>
            <a:off x="628650" y="1224643"/>
            <a:ext cx="7886700" cy="3331200"/>
          </a:xfrm>
          <a:prstGeom prst="rect">
            <a:avLst/>
          </a:prstGeom>
          <a:noFill/>
          <a:ln>
            <a:noFill/>
          </a:ln>
        </p:spPr>
        <p:txBody>
          <a:bodyPr spcFirstLastPara="1" wrap="square" lIns="68575" tIns="34275" rIns="68575" bIns="34275" anchor="t" anchorCtr="0">
            <a:normAutofit/>
          </a:bodyPr>
          <a:lstStyle>
            <a:lvl1pPr marL="457200" lvl="0" indent="-361950" algn="l">
              <a:lnSpc>
                <a:spcPct val="100000"/>
              </a:lnSpc>
              <a:spcBef>
                <a:spcPts val="800"/>
              </a:spcBef>
              <a:spcAft>
                <a:spcPts val="0"/>
              </a:spcAft>
              <a:buClr>
                <a:schemeClr val="dk1"/>
              </a:buClr>
              <a:buSzPts val="2100"/>
              <a:buFont typeface="Arial"/>
              <a:buChar char="•"/>
              <a:defRPr sz="21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ntroduction">
  <p:cSld name="Introduction">
    <p:spTree>
      <p:nvGrpSpPr>
        <p:cNvPr id="1" name="Shape 104"/>
        <p:cNvGrpSpPr/>
        <p:nvPr/>
      </p:nvGrpSpPr>
      <p:grpSpPr>
        <a:xfrm>
          <a:off x="0" y="0"/>
          <a:ext cx="0" cy="0"/>
          <a:chOff x="0" y="0"/>
          <a:chExt cx="0" cy="0"/>
        </a:xfrm>
      </p:grpSpPr>
      <p:pic>
        <p:nvPicPr>
          <p:cNvPr id="105" name="Google Shape;105;p60" descr="BITS Pilani logo"/>
          <p:cNvPicPr preferRelativeResize="0"/>
          <p:nvPr/>
        </p:nvPicPr>
        <p:blipFill rotWithShape="1">
          <a:blip r:embed="rId2">
            <a:alphaModFix/>
          </a:blip>
          <a:srcRect/>
          <a:stretch/>
        </p:blipFill>
        <p:spPr>
          <a:xfrm>
            <a:off x="288131" y="216696"/>
            <a:ext cx="2504055" cy="649430"/>
          </a:xfrm>
          <a:prstGeom prst="rect">
            <a:avLst/>
          </a:prstGeom>
          <a:noFill/>
          <a:ln>
            <a:noFill/>
          </a:ln>
        </p:spPr>
      </p:pic>
      <p:sp>
        <p:nvSpPr>
          <p:cNvPr id="106" name="Google Shape;106;p60"/>
          <p:cNvSpPr txBox="1">
            <a:spLocks noGrp="1"/>
          </p:cNvSpPr>
          <p:nvPr>
            <p:ph type="title"/>
          </p:nvPr>
        </p:nvSpPr>
        <p:spPr>
          <a:xfrm>
            <a:off x="351337" y="1253729"/>
            <a:ext cx="4504200" cy="489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60"/>
          <p:cNvSpPr txBox="1">
            <a:spLocks noGrp="1"/>
          </p:cNvSpPr>
          <p:nvPr>
            <p:ph type="body" idx="1"/>
          </p:nvPr>
        </p:nvSpPr>
        <p:spPr>
          <a:xfrm>
            <a:off x="1021556" y="1939835"/>
            <a:ext cx="4504200" cy="2478600"/>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800"/>
              </a:spcBef>
              <a:spcAft>
                <a:spcPts val="0"/>
              </a:spcAft>
              <a:buClr>
                <a:schemeClr val="dk1"/>
              </a:buClr>
              <a:buSzPts val="1800"/>
              <a:buFont typeface="Calibri"/>
              <a:buAutoNum type="arabicPeriod"/>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08" name="Google Shape;108;p60"/>
          <p:cNvSpPr txBox="1">
            <a:spLocks noGrp="1"/>
          </p:cNvSpPr>
          <p:nvPr>
            <p:ph type="ftr" idx="11"/>
          </p:nvPr>
        </p:nvSpPr>
        <p:spPr>
          <a:xfrm>
            <a:off x="1847850" y="4767263"/>
            <a:ext cx="26097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9" name="Google Shape;109;p6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Agenda" type="obj">
  <p:cSld name="OBJECT">
    <p:bg>
      <p:bgPr>
        <a:solidFill>
          <a:schemeClr val="dk1"/>
        </a:solidFill>
        <a:effectLst/>
      </p:bgPr>
    </p:bg>
    <p:spTree>
      <p:nvGrpSpPr>
        <p:cNvPr id="1" name="Shape 110"/>
        <p:cNvGrpSpPr/>
        <p:nvPr/>
      </p:nvGrpSpPr>
      <p:grpSpPr>
        <a:xfrm>
          <a:off x="0" y="0"/>
          <a:ext cx="0" cy="0"/>
          <a:chOff x="0" y="0"/>
          <a:chExt cx="0" cy="0"/>
        </a:xfrm>
      </p:grpSpPr>
      <p:pic>
        <p:nvPicPr>
          <p:cNvPr id="111" name="Google Shape;111;p61"/>
          <p:cNvPicPr preferRelativeResize="0"/>
          <p:nvPr/>
        </p:nvPicPr>
        <p:blipFill rotWithShape="1">
          <a:blip r:embed="rId2">
            <a:alphaModFix/>
          </a:blip>
          <a:srcRect t="18298" r="28340" b="23070"/>
          <a:stretch/>
        </p:blipFill>
        <p:spPr>
          <a:xfrm>
            <a:off x="4116611" y="0"/>
            <a:ext cx="5027390" cy="5143500"/>
          </a:xfrm>
          <a:prstGeom prst="rect">
            <a:avLst/>
          </a:prstGeom>
          <a:noFill/>
          <a:ln>
            <a:noFill/>
          </a:ln>
        </p:spPr>
      </p:pic>
      <p:sp>
        <p:nvSpPr>
          <p:cNvPr id="112" name="Google Shape;112;p61"/>
          <p:cNvSpPr txBox="1">
            <a:spLocks noGrp="1"/>
          </p:cNvSpPr>
          <p:nvPr>
            <p:ph type="title"/>
          </p:nvPr>
        </p:nvSpPr>
        <p:spPr>
          <a:xfrm>
            <a:off x="1000125" y="765334"/>
            <a:ext cx="2171700" cy="9942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lt1"/>
              </a:buClr>
              <a:buSzPts val="2100"/>
              <a:buFont typeface="Calibri"/>
              <a:buNone/>
              <a:defRPr sz="21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3" name="Google Shape;113;p61"/>
          <p:cNvSpPr txBox="1">
            <a:spLocks noGrp="1"/>
          </p:cNvSpPr>
          <p:nvPr>
            <p:ph type="body" idx="1"/>
          </p:nvPr>
        </p:nvSpPr>
        <p:spPr>
          <a:xfrm>
            <a:off x="1000125" y="2193131"/>
            <a:ext cx="2171700" cy="1889700"/>
          </a:xfrm>
          <a:prstGeom prst="rect">
            <a:avLst/>
          </a:prstGeom>
          <a:noFill/>
          <a:ln>
            <a:noFill/>
          </a:ln>
        </p:spPr>
        <p:txBody>
          <a:bodyPr spcFirstLastPara="1" wrap="square" lIns="68575" tIns="34275" rIns="68575" bIns="34275" anchor="t" anchorCtr="0">
            <a:normAutofit/>
          </a:bodyPr>
          <a:lstStyle>
            <a:lvl1pPr marL="457200" lvl="0" indent="-228600" algn="l">
              <a:lnSpc>
                <a:spcPct val="150000"/>
              </a:lnSpc>
              <a:spcBef>
                <a:spcPts val="800"/>
              </a:spcBef>
              <a:spcAft>
                <a:spcPts val="0"/>
              </a:spcAft>
              <a:buClr>
                <a:schemeClr val="lt1"/>
              </a:buClr>
              <a:buSzPts val="1100"/>
              <a:buNone/>
              <a:defRPr sz="1100">
                <a:solidFill>
                  <a:schemeClr val="lt1"/>
                </a:solidFill>
              </a:defRPr>
            </a:lvl1pPr>
            <a:lvl2pPr marL="914400" lvl="1" indent="-228600" algn="l">
              <a:lnSpc>
                <a:spcPct val="150000"/>
              </a:lnSpc>
              <a:spcBef>
                <a:spcPts val="400"/>
              </a:spcBef>
              <a:spcAft>
                <a:spcPts val="0"/>
              </a:spcAft>
              <a:buClr>
                <a:schemeClr val="lt1"/>
              </a:buClr>
              <a:buSzPts val="1100"/>
              <a:buNone/>
              <a:defRPr sz="1100">
                <a:solidFill>
                  <a:schemeClr val="lt1"/>
                </a:solidFill>
              </a:defRPr>
            </a:lvl2pPr>
            <a:lvl3pPr marL="1371600" lvl="2" indent="-228600" algn="l">
              <a:lnSpc>
                <a:spcPct val="150000"/>
              </a:lnSpc>
              <a:spcBef>
                <a:spcPts val="400"/>
              </a:spcBef>
              <a:spcAft>
                <a:spcPts val="0"/>
              </a:spcAft>
              <a:buClr>
                <a:schemeClr val="lt1"/>
              </a:buClr>
              <a:buSzPts val="1100"/>
              <a:buNone/>
              <a:defRPr sz="1100">
                <a:solidFill>
                  <a:schemeClr val="lt1"/>
                </a:solidFill>
              </a:defRPr>
            </a:lvl3pPr>
            <a:lvl4pPr marL="1828800" lvl="3" indent="-228600" algn="l">
              <a:lnSpc>
                <a:spcPct val="150000"/>
              </a:lnSpc>
              <a:spcBef>
                <a:spcPts val="400"/>
              </a:spcBef>
              <a:spcAft>
                <a:spcPts val="0"/>
              </a:spcAft>
              <a:buClr>
                <a:schemeClr val="lt1"/>
              </a:buClr>
              <a:buSzPts val="1100"/>
              <a:buNone/>
              <a:defRPr sz="1100">
                <a:solidFill>
                  <a:schemeClr val="lt1"/>
                </a:solidFill>
              </a:defRPr>
            </a:lvl4pPr>
            <a:lvl5pPr marL="2286000" lvl="4" indent="-228600" algn="l">
              <a:lnSpc>
                <a:spcPct val="150000"/>
              </a:lnSpc>
              <a:spcBef>
                <a:spcPts val="400"/>
              </a:spcBef>
              <a:spcAft>
                <a:spcPts val="0"/>
              </a:spcAft>
              <a:buClr>
                <a:schemeClr val="lt1"/>
              </a:buClr>
              <a:buSzPts val="1100"/>
              <a:buNone/>
              <a:defRPr sz="1100">
                <a:solidFill>
                  <a:schemeClr val="lt1"/>
                </a:solidFill>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4" name="Google Shape;114;p61"/>
          <p:cNvSpPr txBox="1">
            <a:spLocks noGrp="1"/>
          </p:cNvSpPr>
          <p:nvPr>
            <p:ph type="ftr" idx="11"/>
          </p:nvPr>
        </p:nvSpPr>
        <p:spPr>
          <a:xfrm>
            <a:off x="2002414" y="4767262"/>
            <a:ext cx="1862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61"/>
          <p:cNvSpPr txBox="1">
            <a:spLocks noGrp="1"/>
          </p:cNvSpPr>
          <p:nvPr>
            <p:ph type="sldNum" idx="12"/>
          </p:nvPr>
        </p:nvSpPr>
        <p:spPr>
          <a:xfrm>
            <a:off x="4152229" y="4767263"/>
            <a:ext cx="7407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ntroduction" type="secHead">
  <p:cSld name="SECTION_HEADER">
    <p:spTree>
      <p:nvGrpSpPr>
        <p:cNvPr id="1" name="Shape 116"/>
        <p:cNvGrpSpPr/>
        <p:nvPr/>
      </p:nvGrpSpPr>
      <p:grpSpPr>
        <a:xfrm>
          <a:off x="0" y="0"/>
          <a:ext cx="0" cy="0"/>
          <a:chOff x="0" y="0"/>
          <a:chExt cx="0" cy="0"/>
        </a:xfrm>
      </p:grpSpPr>
      <p:sp>
        <p:nvSpPr>
          <p:cNvPr id="117" name="Google Shape;117;p62"/>
          <p:cNvSpPr txBox="1">
            <a:spLocks noGrp="1"/>
          </p:cNvSpPr>
          <p:nvPr>
            <p:ph type="title"/>
          </p:nvPr>
        </p:nvSpPr>
        <p:spPr>
          <a:xfrm>
            <a:off x="351337" y="1253729"/>
            <a:ext cx="4504200" cy="4899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62"/>
          <p:cNvSpPr txBox="1">
            <a:spLocks noGrp="1"/>
          </p:cNvSpPr>
          <p:nvPr>
            <p:ph type="body" idx="1"/>
          </p:nvPr>
        </p:nvSpPr>
        <p:spPr>
          <a:xfrm>
            <a:off x="1021556" y="1939835"/>
            <a:ext cx="4504200" cy="2478600"/>
          </a:xfrm>
          <a:prstGeom prst="rect">
            <a:avLst/>
          </a:prstGeom>
          <a:noFill/>
          <a:ln>
            <a:noFill/>
          </a:ln>
        </p:spPr>
        <p:txBody>
          <a:bodyPr spcFirstLastPara="1" wrap="square" lIns="68575" tIns="34275" rIns="68575" bIns="34275" anchor="t" anchorCtr="0">
            <a:normAutofit/>
          </a:bodyPr>
          <a:lstStyle>
            <a:lvl1pPr marL="457200" lvl="0" indent="-342900" algn="l">
              <a:lnSpc>
                <a:spcPct val="100000"/>
              </a:lnSpc>
              <a:spcBef>
                <a:spcPts val="800"/>
              </a:spcBef>
              <a:spcAft>
                <a:spcPts val="0"/>
              </a:spcAft>
              <a:buClr>
                <a:schemeClr val="dk1"/>
              </a:buClr>
              <a:buSzPts val="1800"/>
              <a:buFont typeface="Calibri"/>
              <a:buAutoNum type="arabicPeriod"/>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119" name="Google Shape;119;p62"/>
          <p:cNvSpPr txBox="1">
            <a:spLocks noGrp="1"/>
          </p:cNvSpPr>
          <p:nvPr>
            <p:ph type="ftr" idx="11"/>
          </p:nvPr>
        </p:nvSpPr>
        <p:spPr>
          <a:xfrm>
            <a:off x="1847850" y="4767263"/>
            <a:ext cx="26097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0" name="Google Shape;120;p6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21" name="Google Shape;121;p62" descr="BITS Pilani logo"/>
          <p:cNvPicPr preferRelativeResize="0"/>
          <p:nvPr/>
        </p:nvPicPr>
        <p:blipFill rotWithShape="1">
          <a:blip r:embed="rId2">
            <a:alphaModFix/>
          </a:blip>
          <a:srcRect/>
          <a:stretch/>
        </p:blipFill>
        <p:spPr>
          <a:xfrm>
            <a:off x="288131" y="216696"/>
            <a:ext cx="2504055" cy="64943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Section Break" type="title">
  <p:cSld name="TITLE">
    <p:bg>
      <p:bgPr>
        <a:solidFill>
          <a:schemeClr val="dk1"/>
        </a:solidFill>
        <a:effectLst/>
      </p:bgPr>
    </p:bg>
    <p:spTree>
      <p:nvGrpSpPr>
        <p:cNvPr id="1" name="Shape 122"/>
        <p:cNvGrpSpPr/>
        <p:nvPr/>
      </p:nvGrpSpPr>
      <p:grpSpPr>
        <a:xfrm>
          <a:off x="0" y="0"/>
          <a:ext cx="0" cy="0"/>
          <a:chOff x="0" y="0"/>
          <a:chExt cx="0" cy="0"/>
        </a:xfrm>
      </p:grpSpPr>
      <p:sp>
        <p:nvSpPr>
          <p:cNvPr id="123" name="Google Shape;123;p63"/>
          <p:cNvSpPr txBox="1">
            <a:spLocks noGrp="1"/>
          </p:cNvSpPr>
          <p:nvPr>
            <p:ph type="ctrTitle"/>
          </p:nvPr>
        </p:nvSpPr>
        <p:spPr>
          <a:xfrm>
            <a:off x="5243513" y="1611630"/>
            <a:ext cx="3134700" cy="12864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lt1"/>
              </a:buClr>
              <a:buSzPts val="2700"/>
              <a:buFont typeface="Calibri"/>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4" name="Google Shape;124;p63"/>
          <p:cNvSpPr txBox="1">
            <a:spLocks noGrp="1"/>
          </p:cNvSpPr>
          <p:nvPr>
            <p:ph type="subTitle" idx="1"/>
          </p:nvPr>
        </p:nvSpPr>
        <p:spPr>
          <a:xfrm>
            <a:off x="5243513" y="2971502"/>
            <a:ext cx="3134700" cy="273900"/>
          </a:xfrm>
          <a:prstGeom prst="rect">
            <a:avLst/>
          </a:prstGeom>
          <a:noFill/>
          <a:ln>
            <a:noFill/>
          </a:ln>
        </p:spPr>
        <p:txBody>
          <a:bodyPr spcFirstLastPara="1" wrap="square" lIns="68575" tIns="34275" rIns="68575" bIns="34275" anchor="t" anchorCtr="0">
            <a:normAutofit/>
          </a:bodyPr>
          <a:lstStyle>
            <a:lvl1pPr lvl="0" algn="l">
              <a:lnSpc>
                <a:spcPct val="90000"/>
              </a:lnSpc>
              <a:spcBef>
                <a:spcPts val="800"/>
              </a:spcBef>
              <a:spcAft>
                <a:spcPts val="0"/>
              </a:spcAft>
              <a:buClr>
                <a:schemeClr val="lt1"/>
              </a:buClr>
              <a:buSzPts val="1200"/>
              <a:buNone/>
              <a:defRPr sz="12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125" name="Google Shape;125;p63"/>
          <p:cNvPicPr preferRelativeResize="0"/>
          <p:nvPr/>
        </p:nvPicPr>
        <p:blipFill rotWithShape="1">
          <a:blip r:embed="rId2">
            <a:alphaModFix/>
          </a:blip>
          <a:srcRect/>
          <a:stretch/>
        </p:blipFill>
        <p:spPr>
          <a:xfrm>
            <a:off x="0" y="621506"/>
            <a:ext cx="4407694" cy="3900488"/>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eam Slide 4 People">
  <p:cSld name="Team Slide 4 People">
    <p:bg>
      <p:bgPr>
        <a:solidFill>
          <a:schemeClr val="lt1"/>
        </a:solidFill>
        <a:effectLst/>
      </p:bgPr>
    </p:bg>
    <p:spTree>
      <p:nvGrpSpPr>
        <p:cNvPr id="1" name="Shape 126"/>
        <p:cNvGrpSpPr/>
        <p:nvPr/>
      </p:nvGrpSpPr>
      <p:grpSpPr>
        <a:xfrm>
          <a:off x="0" y="0"/>
          <a:ext cx="0" cy="0"/>
          <a:chOff x="0" y="0"/>
          <a:chExt cx="0" cy="0"/>
        </a:xfrm>
      </p:grpSpPr>
      <p:sp>
        <p:nvSpPr>
          <p:cNvPr id="127" name="Google Shape;127;p64"/>
          <p:cNvSpPr txBox="1">
            <a:spLocks noGrp="1"/>
          </p:cNvSpPr>
          <p:nvPr>
            <p:ph type="title"/>
          </p:nvPr>
        </p:nvSpPr>
        <p:spPr>
          <a:xfrm>
            <a:off x="921425" y="280022"/>
            <a:ext cx="7847100" cy="9741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8" name="Google Shape;128;p64"/>
          <p:cNvSpPr>
            <a:spLocks noGrp="1"/>
          </p:cNvSpPr>
          <p:nvPr>
            <p:ph type="pic" idx="2"/>
          </p:nvPr>
        </p:nvSpPr>
        <p:spPr>
          <a:xfrm>
            <a:off x="1115386" y="2164556"/>
            <a:ext cx="1384200" cy="1384200"/>
          </a:xfrm>
          <a:prstGeom prst="rect">
            <a:avLst/>
          </a:prstGeom>
          <a:solidFill>
            <a:srgbClr val="F2F2F2"/>
          </a:solidFill>
          <a:ln>
            <a:noFill/>
          </a:ln>
        </p:spPr>
      </p:sp>
      <p:sp>
        <p:nvSpPr>
          <p:cNvPr id="129" name="Google Shape;129;p64"/>
          <p:cNvSpPr txBox="1">
            <a:spLocks noGrp="1"/>
          </p:cNvSpPr>
          <p:nvPr>
            <p:ph type="body" idx="1"/>
          </p:nvPr>
        </p:nvSpPr>
        <p:spPr>
          <a:xfrm>
            <a:off x="921426"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0" name="Google Shape;130;p64"/>
          <p:cNvSpPr txBox="1">
            <a:spLocks noGrp="1"/>
          </p:cNvSpPr>
          <p:nvPr>
            <p:ph type="body" idx="3"/>
          </p:nvPr>
        </p:nvSpPr>
        <p:spPr>
          <a:xfrm>
            <a:off x="1115386" y="4098086"/>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1" name="Google Shape;131;p64"/>
          <p:cNvSpPr>
            <a:spLocks noGrp="1"/>
          </p:cNvSpPr>
          <p:nvPr>
            <p:ph type="pic" idx="4"/>
          </p:nvPr>
        </p:nvSpPr>
        <p:spPr>
          <a:xfrm>
            <a:off x="2877685" y="2164556"/>
            <a:ext cx="1384200" cy="1384200"/>
          </a:xfrm>
          <a:prstGeom prst="rect">
            <a:avLst/>
          </a:prstGeom>
          <a:solidFill>
            <a:srgbClr val="F2F2F2"/>
          </a:solidFill>
          <a:ln>
            <a:noFill/>
          </a:ln>
        </p:spPr>
      </p:sp>
      <p:sp>
        <p:nvSpPr>
          <p:cNvPr id="132" name="Google Shape;132;p64"/>
          <p:cNvSpPr txBox="1">
            <a:spLocks noGrp="1"/>
          </p:cNvSpPr>
          <p:nvPr>
            <p:ph type="body" idx="5"/>
          </p:nvPr>
        </p:nvSpPr>
        <p:spPr>
          <a:xfrm>
            <a:off x="2683725" y="3813393"/>
            <a:ext cx="17481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3" name="Google Shape;133;p64"/>
          <p:cNvSpPr txBox="1">
            <a:spLocks noGrp="1"/>
          </p:cNvSpPr>
          <p:nvPr>
            <p:ph type="body" idx="6"/>
          </p:nvPr>
        </p:nvSpPr>
        <p:spPr>
          <a:xfrm>
            <a:off x="2877685" y="4109097"/>
            <a:ext cx="13920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4" name="Google Shape;134;p64"/>
          <p:cNvSpPr>
            <a:spLocks noGrp="1"/>
          </p:cNvSpPr>
          <p:nvPr>
            <p:ph type="pic" idx="7"/>
          </p:nvPr>
        </p:nvSpPr>
        <p:spPr>
          <a:xfrm>
            <a:off x="4745684" y="2164556"/>
            <a:ext cx="1384200" cy="1384200"/>
          </a:xfrm>
          <a:prstGeom prst="rect">
            <a:avLst/>
          </a:prstGeom>
          <a:solidFill>
            <a:srgbClr val="F2F2F2"/>
          </a:solidFill>
          <a:ln>
            <a:noFill/>
          </a:ln>
        </p:spPr>
      </p:sp>
      <p:sp>
        <p:nvSpPr>
          <p:cNvPr id="135" name="Google Shape;135;p64"/>
          <p:cNvSpPr txBox="1">
            <a:spLocks noGrp="1"/>
          </p:cNvSpPr>
          <p:nvPr>
            <p:ph type="body" idx="8"/>
          </p:nvPr>
        </p:nvSpPr>
        <p:spPr>
          <a:xfrm>
            <a:off x="4551723"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6" name="Google Shape;136;p64"/>
          <p:cNvSpPr txBox="1">
            <a:spLocks noGrp="1"/>
          </p:cNvSpPr>
          <p:nvPr>
            <p:ph type="body" idx="9"/>
          </p:nvPr>
        </p:nvSpPr>
        <p:spPr>
          <a:xfrm>
            <a:off x="4745683" y="4109097"/>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7" name="Google Shape;137;p64"/>
          <p:cNvSpPr>
            <a:spLocks noGrp="1"/>
          </p:cNvSpPr>
          <p:nvPr>
            <p:ph type="pic" idx="13"/>
          </p:nvPr>
        </p:nvSpPr>
        <p:spPr>
          <a:xfrm>
            <a:off x="6560594" y="2164556"/>
            <a:ext cx="1384200" cy="1384200"/>
          </a:xfrm>
          <a:prstGeom prst="rect">
            <a:avLst/>
          </a:prstGeom>
          <a:solidFill>
            <a:srgbClr val="F2F2F2"/>
          </a:solidFill>
          <a:ln>
            <a:noFill/>
          </a:ln>
        </p:spPr>
      </p:sp>
      <p:sp>
        <p:nvSpPr>
          <p:cNvPr id="138" name="Google Shape;138;p64"/>
          <p:cNvSpPr txBox="1">
            <a:spLocks noGrp="1"/>
          </p:cNvSpPr>
          <p:nvPr>
            <p:ph type="body" idx="14"/>
          </p:nvPr>
        </p:nvSpPr>
        <p:spPr>
          <a:xfrm>
            <a:off x="6366634" y="3813393"/>
            <a:ext cx="17385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dk1"/>
              </a:buClr>
              <a:buSzPts val="1100"/>
              <a:buNone/>
              <a:defRPr sz="11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39" name="Google Shape;139;p64"/>
          <p:cNvSpPr txBox="1">
            <a:spLocks noGrp="1"/>
          </p:cNvSpPr>
          <p:nvPr>
            <p:ph type="body" idx="15"/>
          </p:nvPr>
        </p:nvSpPr>
        <p:spPr>
          <a:xfrm>
            <a:off x="6560594" y="4098086"/>
            <a:ext cx="13842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dk1"/>
              </a:buClr>
              <a:buSzPts val="800"/>
              <a:buNone/>
              <a:defRPr sz="8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40" name="Google Shape;140;p6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1" name="Google Shape;141;p6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42" name="Google Shape;142;p64"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eam Slide 8 People">
  <p:cSld name="Team Slide 8 People">
    <p:bg>
      <p:bgPr>
        <a:solidFill>
          <a:schemeClr val="dk1"/>
        </a:solidFill>
        <a:effectLst/>
      </p:bgPr>
    </p:bg>
    <p:spTree>
      <p:nvGrpSpPr>
        <p:cNvPr id="1" name="Shape 143"/>
        <p:cNvGrpSpPr/>
        <p:nvPr/>
      </p:nvGrpSpPr>
      <p:grpSpPr>
        <a:xfrm>
          <a:off x="0" y="0"/>
          <a:ext cx="0" cy="0"/>
          <a:chOff x="0" y="0"/>
          <a:chExt cx="0" cy="0"/>
        </a:xfrm>
      </p:grpSpPr>
      <p:grpSp>
        <p:nvGrpSpPr>
          <p:cNvPr id="144" name="Google Shape;144;p65"/>
          <p:cNvGrpSpPr/>
          <p:nvPr/>
        </p:nvGrpSpPr>
        <p:grpSpPr>
          <a:xfrm>
            <a:off x="0" y="355465"/>
            <a:ext cx="9144000" cy="4216002"/>
            <a:chOff x="0" y="473953"/>
            <a:chExt cx="12192000" cy="5621336"/>
          </a:xfrm>
        </p:grpSpPr>
        <p:pic>
          <p:nvPicPr>
            <p:cNvPr id="145" name="Google Shape;145;p65"/>
            <p:cNvPicPr preferRelativeResize="0"/>
            <p:nvPr/>
          </p:nvPicPr>
          <p:blipFill rotWithShape="1">
            <a:blip r:embed="rId2">
              <a:alphaModFix/>
            </a:blip>
            <a:srcRect/>
            <a:stretch/>
          </p:blipFill>
          <p:spPr>
            <a:xfrm>
              <a:off x="0" y="473953"/>
              <a:ext cx="2057400" cy="1647825"/>
            </a:xfrm>
            <a:prstGeom prst="rect">
              <a:avLst/>
            </a:prstGeom>
            <a:noFill/>
            <a:ln>
              <a:noFill/>
            </a:ln>
          </p:spPr>
        </p:pic>
        <p:pic>
          <p:nvPicPr>
            <p:cNvPr id="146" name="Google Shape;146;p65"/>
            <p:cNvPicPr preferRelativeResize="0"/>
            <p:nvPr/>
          </p:nvPicPr>
          <p:blipFill rotWithShape="1">
            <a:blip r:embed="rId3">
              <a:alphaModFix/>
            </a:blip>
            <a:srcRect/>
            <a:stretch/>
          </p:blipFill>
          <p:spPr>
            <a:xfrm>
              <a:off x="11049000" y="5180889"/>
              <a:ext cx="1143000" cy="914400"/>
            </a:xfrm>
            <a:prstGeom prst="rect">
              <a:avLst/>
            </a:prstGeom>
            <a:noFill/>
            <a:ln>
              <a:noFill/>
            </a:ln>
          </p:spPr>
        </p:pic>
      </p:grpSp>
      <p:sp>
        <p:nvSpPr>
          <p:cNvPr id="147" name="Google Shape;147;p65"/>
          <p:cNvSpPr txBox="1">
            <a:spLocks noGrp="1"/>
          </p:cNvSpPr>
          <p:nvPr>
            <p:ph type="title"/>
          </p:nvPr>
        </p:nvSpPr>
        <p:spPr>
          <a:xfrm>
            <a:off x="1413867" y="669133"/>
            <a:ext cx="6316200" cy="9942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lt1"/>
              </a:buClr>
              <a:buSzPts val="2100"/>
              <a:buFont typeface="Calibri"/>
              <a:buNone/>
              <a:defRPr sz="2100">
                <a:solidFill>
                  <a:schemeClr val="lt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8" name="Google Shape;148;p65"/>
          <p:cNvSpPr>
            <a:spLocks noGrp="1"/>
          </p:cNvSpPr>
          <p:nvPr>
            <p:ph type="pic" idx="2"/>
          </p:nvPr>
        </p:nvSpPr>
        <p:spPr>
          <a:xfrm>
            <a:off x="1407882" y="1821656"/>
            <a:ext cx="800100" cy="800100"/>
          </a:xfrm>
          <a:prstGeom prst="rect">
            <a:avLst/>
          </a:prstGeom>
          <a:solidFill>
            <a:schemeClr val="lt1"/>
          </a:solidFill>
          <a:ln>
            <a:noFill/>
          </a:ln>
        </p:spPr>
      </p:sp>
      <p:sp>
        <p:nvSpPr>
          <p:cNvPr id="149" name="Google Shape;149;p65"/>
          <p:cNvSpPr txBox="1">
            <a:spLocks noGrp="1"/>
          </p:cNvSpPr>
          <p:nvPr>
            <p:ph type="body" idx="1"/>
          </p:nvPr>
        </p:nvSpPr>
        <p:spPr>
          <a:xfrm>
            <a:off x="1125126"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0" name="Google Shape;150;p65"/>
          <p:cNvSpPr txBox="1">
            <a:spLocks noGrp="1"/>
          </p:cNvSpPr>
          <p:nvPr>
            <p:ph type="body" idx="3"/>
          </p:nvPr>
        </p:nvSpPr>
        <p:spPr>
          <a:xfrm>
            <a:off x="1125126" y="2857310"/>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1" name="Google Shape;151;p65"/>
          <p:cNvSpPr>
            <a:spLocks noGrp="1"/>
          </p:cNvSpPr>
          <p:nvPr>
            <p:ph type="pic" idx="4"/>
          </p:nvPr>
        </p:nvSpPr>
        <p:spPr>
          <a:xfrm>
            <a:off x="3169703" y="1821656"/>
            <a:ext cx="800100" cy="800100"/>
          </a:xfrm>
          <a:prstGeom prst="rect">
            <a:avLst/>
          </a:prstGeom>
          <a:solidFill>
            <a:schemeClr val="lt1"/>
          </a:solidFill>
          <a:ln>
            <a:noFill/>
          </a:ln>
        </p:spPr>
      </p:sp>
      <p:sp>
        <p:nvSpPr>
          <p:cNvPr id="152" name="Google Shape;152;p65"/>
          <p:cNvSpPr txBox="1">
            <a:spLocks noGrp="1"/>
          </p:cNvSpPr>
          <p:nvPr>
            <p:ph type="body" idx="5"/>
          </p:nvPr>
        </p:nvSpPr>
        <p:spPr>
          <a:xfrm>
            <a:off x="2886946"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3" name="Google Shape;153;p65"/>
          <p:cNvSpPr txBox="1">
            <a:spLocks noGrp="1"/>
          </p:cNvSpPr>
          <p:nvPr>
            <p:ph type="body" idx="6"/>
          </p:nvPr>
        </p:nvSpPr>
        <p:spPr>
          <a:xfrm>
            <a:off x="2886946" y="2857310"/>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4" name="Google Shape;154;p65"/>
          <p:cNvSpPr>
            <a:spLocks noGrp="1"/>
          </p:cNvSpPr>
          <p:nvPr>
            <p:ph type="pic" idx="7"/>
          </p:nvPr>
        </p:nvSpPr>
        <p:spPr>
          <a:xfrm>
            <a:off x="4991688" y="1821656"/>
            <a:ext cx="800100" cy="800100"/>
          </a:xfrm>
          <a:prstGeom prst="rect">
            <a:avLst/>
          </a:prstGeom>
          <a:solidFill>
            <a:schemeClr val="lt1"/>
          </a:solidFill>
          <a:ln>
            <a:noFill/>
          </a:ln>
        </p:spPr>
      </p:sp>
      <p:sp>
        <p:nvSpPr>
          <p:cNvPr id="155" name="Google Shape;155;p65"/>
          <p:cNvSpPr txBox="1">
            <a:spLocks noGrp="1"/>
          </p:cNvSpPr>
          <p:nvPr>
            <p:ph type="body" idx="8"/>
          </p:nvPr>
        </p:nvSpPr>
        <p:spPr>
          <a:xfrm>
            <a:off x="4648766" y="2740784"/>
            <a:ext cx="15789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6" name="Google Shape;156;p65"/>
          <p:cNvSpPr txBox="1">
            <a:spLocks noGrp="1"/>
          </p:cNvSpPr>
          <p:nvPr>
            <p:ph type="body" idx="9"/>
          </p:nvPr>
        </p:nvSpPr>
        <p:spPr>
          <a:xfrm>
            <a:off x="4571999" y="2857310"/>
            <a:ext cx="1725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7" name="Google Shape;157;p65"/>
          <p:cNvSpPr>
            <a:spLocks noGrp="1"/>
          </p:cNvSpPr>
          <p:nvPr>
            <p:ph type="pic" idx="13"/>
          </p:nvPr>
        </p:nvSpPr>
        <p:spPr>
          <a:xfrm>
            <a:off x="6852611" y="1821656"/>
            <a:ext cx="800100" cy="800100"/>
          </a:xfrm>
          <a:prstGeom prst="rect">
            <a:avLst/>
          </a:prstGeom>
          <a:solidFill>
            <a:schemeClr val="lt1"/>
          </a:solidFill>
          <a:ln>
            <a:noFill/>
          </a:ln>
        </p:spPr>
      </p:sp>
      <p:sp>
        <p:nvSpPr>
          <p:cNvPr id="158" name="Google Shape;158;p65"/>
          <p:cNvSpPr txBox="1">
            <a:spLocks noGrp="1"/>
          </p:cNvSpPr>
          <p:nvPr>
            <p:ph type="body" idx="14"/>
          </p:nvPr>
        </p:nvSpPr>
        <p:spPr>
          <a:xfrm>
            <a:off x="6569855" y="2740784"/>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59" name="Google Shape;159;p65"/>
          <p:cNvSpPr txBox="1">
            <a:spLocks noGrp="1"/>
          </p:cNvSpPr>
          <p:nvPr>
            <p:ph type="body" idx="15"/>
          </p:nvPr>
        </p:nvSpPr>
        <p:spPr>
          <a:xfrm>
            <a:off x="6558360" y="2857310"/>
            <a:ext cx="1383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0" name="Google Shape;160;p65"/>
          <p:cNvSpPr>
            <a:spLocks noGrp="1"/>
          </p:cNvSpPr>
          <p:nvPr>
            <p:ph type="pic" idx="16"/>
          </p:nvPr>
        </p:nvSpPr>
        <p:spPr>
          <a:xfrm>
            <a:off x="1407882" y="3215783"/>
            <a:ext cx="800100" cy="800100"/>
          </a:xfrm>
          <a:prstGeom prst="rect">
            <a:avLst/>
          </a:prstGeom>
          <a:solidFill>
            <a:schemeClr val="lt1"/>
          </a:solidFill>
          <a:ln>
            <a:noFill/>
          </a:ln>
        </p:spPr>
      </p:sp>
      <p:sp>
        <p:nvSpPr>
          <p:cNvPr id="161" name="Google Shape;161;p65"/>
          <p:cNvSpPr txBox="1">
            <a:spLocks noGrp="1"/>
          </p:cNvSpPr>
          <p:nvPr>
            <p:ph type="body" idx="17"/>
          </p:nvPr>
        </p:nvSpPr>
        <p:spPr>
          <a:xfrm>
            <a:off x="1125126"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2" name="Google Shape;162;p65"/>
          <p:cNvSpPr txBox="1">
            <a:spLocks noGrp="1"/>
          </p:cNvSpPr>
          <p:nvPr>
            <p:ph type="body" idx="18"/>
          </p:nvPr>
        </p:nvSpPr>
        <p:spPr>
          <a:xfrm>
            <a:off x="1125126" y="4251437"/>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3" name="Google Shape;163;p65"/>
          <p:cNvSpPr>
            <a:spLocks noGrp="1"/>
          </p:cNvSpPr>
          <p:nvPr>
            <p:ph type="pic" idx="19"/>
          </p:nvPr>
        </p:nvSpPr>
        <p:spPr>
          <a:xfrm>
            <a:off x="3169703" y="3215783"/>
            <a:ext cx="800100" cy="800100"/>
          </a:xfrm>
          <a:prstGeom prst="rect">
            <a:avLst/>
          </a:prstGeom>
          <a:solidFill>
            <a:schemeClr val="lt1"/>
          </a:solidFill>
          <a:ln>
            <a:noFill/>
          </a:ln>
        </p:spPr>
      </p:sp>
      <p:sp>
        <p:nvSpPr>
          <p:cNvPr id="164" name="Google Shape;164;p65"/>
          <p:cNvSpPr txBox="1">
            <a:spLocks noGrp="1"/>
          </p:cNvSpPr>
          <p:nvPr>
            <p:ph type="body" idx="20"/>
          </p:nvPr>
        </p:nvSpPr>
        <p:spPr>
          <a:xfrm>
            <a:off x="2886946"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5" name="Google Shape;165;p65"/>
          <p:cNvSpPr txBox="1">
            <a:spLocks noGrp="1"/>
          </p:cNvSpPr>
          <p:nvPr>
            <p:ph type="body" idx="21"/>
          </p:nvPr>
        </p:nvSpPr>
        <p:spPr>
          <a:xfrm>
            <a:off x="2886946" y="4251437"/>
            <a:ext cx="13716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6" name="Google Shape;166;p65"/>
          <p:cNvSpPr>
            <a:spLocks noGrp="1"/>
          </p:cNvSpPr>
          <p:nvPr>
            <p:ph type="pic" idx="22"/>
          </p:nvPr>
        </p:nvSpPr>
        <p:spPr>
          <a:xfrm>
            <a:off x="4991688" y="3215783"/>
            <a:ext cx="800100" cy="800100"/>
          </a:xfrm>
          <a:prstGeom prst="rect">
            <a:avLst/>
          </a:prstGeom>
          <a:solidFill>
            <a:schemeClr val="lt1"/>
          </a:solidFill>
          <a:ln>
            <a:noFill/>
          </a:ln>
        </p:spPr>
      </p:sp>
      <p:sp>
        <p:nvSpPr>
          <p:cNvPr id="167" name="Google Shape;167;p65"/>
          <p:cNvSpPr txBox="1">
            <a:spLocks noGrp="1"/>
          </p:cNvSpPr>
          <p:nvPr>
            <p:ph type="body" idx="23"/>
          </p:nvPr>
        </p:nvSpPr>
        <p:spPr>
          <a:xfrm>
            <a:off x="4754945"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8" name="Google Shape;168;p65"/>
          <p:cNvSpPr txBox="1">
            <a:spLocks noGrp="1"/>
          </p:cNvSpPr>
          <p:nvPr>
            <p:ph type="body" idx="24"/>
          </p:nvPr>
        </p:nvSpPr>
        <p:spPr>
          <a:xfrm>
            <a:off x="4754945" y="4251437"/>
            <a:ext cx="13602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69" name="Google Shape;169;p65"/>
          <p:cNvSpPr>
            <a:spLocks noGrp="1"/>
          </p:cNvSpPr>
          <p:nvPr>
            <p:ph type="pic" idx="25"/>
          </p:nvPr>
        </p:nvSpPr>
        <p:spPr>
          <a:xfrm>
            <a:off x="6852611" y="3215783"/>
            <a:ext cx="800100" cy="800100"/>
          </a:xfrm>
          <a:prstGeom prst="rect">
            <a:avLst/>
          </a:prstGeom>
          <a:solidFill>
            <a:schemeClr val="lt1"/>
          </a:solidFill>
          <a:ln>
            <a:noFill/>
          </a:ln>
        </p:spPr>
      </p:sp>
      <p:sp>
        <p:nvSpPr>
          <p:cNvPr id="170" name="Google Shape;170;p65"/>
          <p:cNvSpPr txBox="1">
            <a:spLocks noGrp="1"/>
          </p:cNvSpPr>
          <p:nvPr>
            <p:ph type="body" idx="26"/>
          </p:nvPr>
        </p:nvSpPr>
        <p:spPr>
          <a:xfrm>
            <a:off x="6569855" y="4134911"/>
            <a:ext cx="1371600" cy="257400"/>
          </a:xfrm>
          <a:prstGeom prst="rect">
            <a:avLst/>
          </a:prstGeom>
          <a:noFill/>
          <a:ln>
            <a:noFill/>
          </a:ln>
        </p:spPr>
        <p:txBody>
          <a:bodyPr spcFirstLastPara="1" wrap="square" lIns="68575" tIns="34275" rIns="68575" bIns="34275" anchor="t" anchorCtr="0">
            <a:noAutofit/>
          </a:bodyPr>
          <a:lstStyle>
            <a:lvl1pPr marL="457200" lvl="0" indent="-228600" algn="ctr">
              <a:lnSpc>
                <a:spcPct val="90000"/>
              </a:lnSpc>
              <a:spcBef>
                <a:spcPts val="800"/>
              </a:spcBef>
              <a:spcAft>
                <a:spcPts val="0"/>
              </a:spcAft>
              <a:buClr>
                <a:schemeClr val="lt1"/>
              </a:buClr>
              <a:buSzPts val="800"/>
              <a:buNone/>
              <a:defRPr sz="800">
                <a:solidFill>
                  <a:schemeClr val="l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1" name="Google Shape;171;p65"/>
          <p:cNvSpPr txBox="1">
            <a:spLocks noGrp="1"/>
          </p:cNvSpPr>
          <p:nvPr>
            <p:ph type="body" idx="27"/>
          </p:nvPr>
        </p:nvSpPr>
        <p:spPr>
          <a:xfrm>
            <a:off x="6558360" y="4251437"/>
            <a:ext cx="1383000" cy="257400"/>
          </a:xfrm>
          <a:prstGeom prst="rect">
            <a:avLst/>
          </a:prstGeom>
          <a:noFill/>
          <a:ln>
            <a:noFill/>
          </a:ln>
        </p:spPr>
        <p:txBody>
          <a:bodyPr spcFirstLastPara="1" wrap="square" lIns="68575" tIns="34275" rIns="68575" bIns="34275" anchor="ctr" anchorCtr="0">
            <a:noAutofit/>
          </a:bodyPr>
          <a:lstStyle>
            <a:lvl1pPr marL="457200" lvl="0" indent="-228600" algn="ctr">
              <a:lnSpc>
                <a:spcPct val="90000"/>
              </a:lnSpc>
              <a:spcBef>
                <a:spcPts val="800"/>
              </a:spcBef>
              <a:spcAft>
                <a:spcPts val="0"/>
              </a:spcAft>
              <a:buClr>
                <a:schemeClr val="accent1"/>
              </a:buClr>
              <a:buSzPts val="700"/>
              <a:buNone/>
              <a:defRPr sz="700">
                <a:solidFill>
                  <a:schemeClr val="accent1"/>
                </a:solidFill>
                <a:latin typeface="Calibri"/>
                <a:ea typeface="Calibri"/>
                <a:cs typeface="Calibri"/>
                <a:sym typeface="Calibri"/>
              </a:defRPr>
            </a:lvl1pPr>
            <a:lvl2pPr marL="914400" lvl="1" indent="-228600" algn="l">
              <a:lnSpc>
                <a:spcPct val="90000"/>
              </a:lnSpc>
              <a:spcBef>
                <a:spcPts val="400"/>
              </a:spcBef>
              <a:spcAft>
                <a:spcPts val="0"/>
              </a:spcAft>
              <a:buClr>
                <a:schemeClr val="lt1"/>
              </a:buClr>
              <a:buSzPts val="1500"/>
              <a:buNone/>
              <a:defRPr sz="1500" b="1"/>
            </a:lvl2pPr>
            <a:lvl3pPr marL="1371600" lvl="2" indent="-228600" algn="l">
              <a:lnSpc>
                <a:spcPct val="90000"/>
              </a:lnSpc>
              <a:spcBef>
                <a:spcPts val="400"/>
              </a:spcBef>
              <a:spcAft>
                <a:spcPts val="0"/>
              </a:spcAft>
              <a:buClr>
                <a:schemeClr val="lt1"/>
              </a:buClr>
              <a:buSzPts val="1400"/>
              <a:buNone/>
              <a:defRPr sz="1400" b="1"/>
            </a:lvl3pPr>
            <a:lvl4pPr marL="1828800" lvl="3" indent="-228600" algn="l">
              <a:lnSpc>
                <a:spcPct val="90000"/>
              </a:lnSpc>
              <a:spcBef>
                <a:spcPts val="400"/>
              </a:spcBef>
              <a:spcAft>
                <a:spcPts val="0"/>
              </a:spcAft>
              <a:buClr>
                <a:schemeClr val="lt1"/>
              </a:buClr>
              <a:buSzPts val="1200"/>
              <a:buNone/>
              <a:defRPr sz="1200" b="1"/>
            </a:lvl4pPr>
            <a:lvl5pPr marL="2286000" lvl="4" indent="-228600" algn="l">
              <a:lnSpc>
                <a:spcPct val="90000"/>
              </a:lnSpc>
              <a:spcBef>
                <a:spcPts val="400"/>
              </a:spcBef>
              <a:spcAft>
                <a:spcPts val="0"/>
              </a:spcAft>
              <a:buClr>
                <a:schemeClr val="lt1"/>
              </a:buClr>
              <a:buSzPts val="1200"/>
              <a:buNone/>
              <a:defRPr sz="1200" b="1"/>
            </a:lvl5pPr>
            <a:lvl6pPr marL="2743200" lvl="5" indent="-228600" algn="l">
              <a:lnSpc>
                <a:spcPct val="90000"/>
              </a:lnSpc>
              <a:spcBef>
                <a:spcPts val="400"/>
              </a:spcBef>
              <a:spcAft>
                <a:spcPts val="0"/>
              </a:spcAft>
              <a:buClr>
                <a:schemeClr val="lt1"/>
              </a:buClr>
              <a:buSzPts val="1200"/>
              <a:buNone/>
              <a:defRPr sz="1200" b="1"/>
            </a:lvl6pPr>
            <a:lvl7pPr marL="3200400" lvl="6" indent="-228600" algn="l">
              <a:lnSpc>
                <a:spcPct val="90000"/>
              </a:lnSpc>
              <a:spcBef>
                <a:spcPts val="400"/>
              </a:spcBef>
              <a:spcAft>
                <a:spcPts val="0"/>
              </a:spcAft>
              <a:buClr>
                <a:schemeClr val="lt1"/>
              </a:buClr>
              <a:buSzPts val="1200"/>
              <a:buNone/>
              <a:defRPr sz="1200" b="1"/>
            </a:lvl7pPr>
            <a:lvl8pPr marL="3657600" lvl="7" indent="-228600" algn="l">
              <a:lnSpc>
                <a:spcPct val="90000"/>
              </a:lnSpc>
              <a:spcBef>
                <a:spcPts val="400"/>
              </a:spcBef>
              <a:spcAft>
                <a:spcPts val="0"/>
              </a:spcAft>
              <a:buClr>
                <a:schemeClr val="lt1"/>
              </a:buClr>
              <a:buSzPts val="1200"/>
              <a:buNone/>
              <a:defRPr sz="1200" b="1"/>
            </a:lvl8pPr>
            <a:lvl9pPr marL="4114800" lvl="8" indent="-228600" algn="l">
              <a:lnSpc>
                <a:spcPct val="90000"/>
              </a:lnSpc>
              <a:spcBef>
                <a:spcPts val="400"/>
              </a:spcBef>
              <a:spcAft>
                <a:spcPts val="0"/>
              </a:spcAft>
              <a:buClr>
                <a:schemeClr val="lt1"/>
              </a:buClr>
              <a:buSzPts val="1200"/>
              <a:buNone/>
              <a:defRPr sz="1200" b="1"/>
            </a:lvl9pPr>
          </a:lstStyle>
          <a:p>
            <a:endParaRPr/>
          </a:p>
        </p:txBody>
      </p:sp>
      <p:sp>
        <p:nvSpPr>
          <p:cNvPr id="172" name="Google Shape;172;p6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solidFill>
                  <a:srgbClr val="898989"/>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3" name="Google Shape;173;p6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98989"/>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meline">
  <p:cSld name="Timeline">
    <p:spTree>
      <p:nvGrpSpPr>
        <p:cNvPr id="1" name="Shape 174"/>
        <p:cNvGrpSpPr/>
        <p:nvPr/>
      </p:nvGrpSpPr>
      <p:grpSpPr>
        <a:xfrm>
          <a:off x="0" y="0"/>
          <a:ext cx="0" cy="0"/>
          <a:chOff x="0" y="0"/>
          <a:chExt cx="0" cy="0"/>
        </a:xfrm>
      </p:grpSpPr>
      <p:sp>
        <p:nvSpPr>
          <p:cNvPr id="175" name="Google Shape;175;p66"/>
          <p:cNvSpPr/>
          <p:nvPr/>
        </p:nvSpPr>
        <p:spPr>
          <a:xfrm>
            <a:off x="1585413" y="0"/>
            <a:ext cx="7558587" cy="5143500"/>
          </a:xfrm>
          <a:custGeom>
            <a:avLst/>
            <a:gdLst/>
            <a:ahLst/>
            <a:cxnLst/>
            <a:rect l="l" t="t" r="r" b="b"/>
            <a:pathLst>
              <a:path w="10078116" h="6858000" extrusionOk="0">
                <a:moveTo>
                  <a:pt x="3793236" y="6858000"/>
                </a:moveTo>
                <a:lnTo>
                  <a:pt x="0" y="0"/>
                </a:lnTo>
                <a:lnTo>
                  <a:pt x="10078116" y="0"/>
                </a:lnTo>
                <a:lnTo>
                  <a:pt x="10078116" y="6858000"/>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sp>
        <p:nvSpPr>
          <p:cNvPr id="176" name="Google Shape;176;p66"/>
          <p:cNvSpPr txBox="1">
            <a:spLocks noGrp="1"/>
          </p:cNvSpPr>
          <p:nvPr>
            <p:ph type="body" idx="1"/>
          </p:nvPr>
        </p:nvSpPr>
        <p:spPr>
          <a:xfrm>
            <a:off x="124556" y="1287585"/>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800"/>
              <a:buNone/>
              <a:defRPr sz="18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7" name="Google Shape;177;p66"/>
          <p:cNvSpPr txBox="1">
            <a:spLocks noGrp="1"/>
          </p:cNvSpPr>
          <p:nvPr>
            <p:ph type="body" idx="2"/>
          </p:nvPr>
        </p:nvSpPr>
        <p:spPr>
          <a:xfrm>
            <a:off x="549098" y="2094829"/>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8" name="Google Shape;178;p66"/>
          <p:cNvSpPr txBox="1">
            <a:spLocks noGrp="1"/>
          </p:cNvSpPr>
          <p:nvPr>
            <p:ph type="body" idx="3"/>
          </p:nvPr>
        </p:nvSpPr>
        <p:spPr>
          <a:xfrm>
            <a:off x="1003917" y="2902073"/>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79" name="Google Shape;179;p66"/>
          <p:cNvSpPr txBox="1">
            <a:spLocks noGrp="1"/>
          </p:cNvSpPr>
          <p:nvPr>
            <p:ph type="body" idx="4"/>
          </p:nvPr>
        </p:nvSpPr>
        <p:spPr>
          <a:xfrm>
            <a:off x="1442067" y="3719114"/>
            <a:ext cx="1606200" cy="385800"/>
          </a:xfrm>
          <a:prstGeom prst="rect">
            <a:avLst/>
          </a:prstGeom>
          <a:noFill/>
          <a:ln>
            <a:noFill/>
          </a:ln>
        </p:spPr>
        <p:txBody>
          <a:bodyPr spcFirstLastPara="1" wrap="square" lIns="68575" tIns="34275" rIns="68575" bIns="34275" anchor="ctr" anchorCtr="0">
            <a:normAutofit/>
          </a:bodyPr>
          <a:lstStyle>
            <a:lvl1pPr marL="457200" lvl="0" indent="-228600" algn="r">
              <a:lnSpc>
                <a:spcPct val="90000"/>
              </a:lnSpc>
              <a:spcBef>
                <a:spcPts val="800"/>
              </a:spcBef>
              <a:spcAft>
                <a:spcPts val="0"/>
              </a:spcAft>
              <a:buClr>
                <a:schemeClr val="dk1"/>
              </a:buClr>
              <a:buSzPts val="1500"/>
              <a:buNone/>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0" name="Google Shape;180;p66"/>
          <p:cNvSpPr txBox="1">
            <a:spLocks noGrp="1"/>
          </p:cNvSpPr>
          <p:nvPr>
            <p:ph type="body" idx="5"/>
          </p:nvPr>
        </p:nvSpPr>
        <p:spPr>
          <a:xfrm>
            <a:off x="3291355" y="1112174"/>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1" name="Google Shape;181;p66"/>
          <p:cNvSpPr txBox="1">
            <a:spLocks noGrp="1"/>
          </p:cNvSpPr>
          <p:nvPr>
            <p:ph type="body" idx="6"/>
          </p:nvPr>
        </p:nvSpPr>
        <p:spPr>
          <a:xfrm>
            <a:off x="3739522" y="1953140"/>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2" name="Google Shape;182;p66"/>
          <p:cNvSpPr txBox="1">
            <a:spLocks noGrp="1"/>
          </p:cNvSpPr>
          <p:nvPr>
            <p:ph type="body" idx="7"/>
          </p:nvPr>
        </p:nvSpPr>
        <p:spPr>
          <a:xfrm>
            <a:off x="4182704" y="2757764"/>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3" name="Google Shape;183;p66"/>
          <p:cNvSpPr txBox="1">
            <a:spLocks noGrp="1"/>
          </p:cNvSpPr>
          <p:nvPr>
            <p:ph type="body" idx="8"/>
          </p:nvPr>
        </p:nvSpPr>
        <p:spPr>
          <a:xfrm>
            <a:off x="4631460" y="3588931"/>
            <a:ext cx="3827100" cy="758100"/>
          </a:xfrm>
          <a:prstGeom prst="rect">
            <a:avLst/>
          </a:prstGeom>
          <a:noFill/>
          <a:ln>
            <a:noFill/>
          </a:ln>
        </p:spPr>
        <p:txBody>
          <a:bodyPr spcFirstLastPara="1" wrap="square" lIns="68575" tIns="34275" rIns="68575" bIns="34275" anchor="t" anchorCtr="0">
            <a:normAutofit/>
          </a:bodyPr>
          <a:lstStyle>
            <a:lvl1pPr marL="457200" lvl="0" indent="-323850" algn="l">
              <a:lnSpc>
                <a:spcPct val="100000"/>
              </a:lnSpc>
              <a:spcBef>
                <a:spcPts val="800"/>
              </a:spcBef>
              <a:spcAft>
                <a:spcPts val="0"/>
              </a:spcAft>
              <a:buClr>
                <a:schemeClr val="dk1"/>
              </a:buClr>
              <a:buSzPts val="1500"/>
              <a:buFont typeface="Arial"/>
              <a:buChar char="•"/>
              <a:defRPr sz="1500"/>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84" name="Google Shape;184;p66"/>
          <p:cNvSpPr txBox="1">
            <a:spLocks noGrp="1"/>
          </p:cNvSpPr>
          <p:nvPr>
            <p:ph type="ftr" idx="11"/>
          </p:nvPr>
        </p:nvSpPr>
        <p:spPr>
          <a:xfrm>
            <a:off x="5061857" y="4767263"/>
            <a:ext cx="28320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11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85" name="Google Shape;185;p66"/>
          <p:cNvSpPr txBox="1">
            <a:spLocks noGrp="1"/>
          </p:cNvSpPr>
          <p:nvPr>
            <p:ph type="sldNum" idx="12"/>
          </p:nvPr>
        </p:nvSpPr>
        <p:spPr>
          <a:xfrm>
            <a:off x="8108156" y="4767263"/>
            <a:ext cx="4071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86" name="Google Shape;186;p66"/>
          <p:cNvCxnSpPr/>
          <p:nvPr/>
        </p:nvCxnSpPr>
        <p:spPr>
          <a:xfrm>
            <a:off x="3265136" y="3944300"/>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87" name="Google Shape;187;p66"/>
          <p:cNvCxnSpPr/>
          <p:nvPr/>
        </p:nvCxnSpPr>
        <p:spPr>
          <a:xfrm>
            <a:off x="2819938" y="3118094"/>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88" name="Google Shape;188;p66"/>
          <p:cNvCxnSpPr/>
          <p:nvPr/>
        </p:nvCxnSpPr>
        <p:spPr>
          <a:xfrm>
            <a:off x="2380090" y="2311271"/>
            <a:ext cx="1134900" cy="0"/>
          </a:xfrm>
          <a:prstGeom prst="straightConnector1">
            <a:avLst/>
          </a:prstGeom>
          <a:noFill/>
          <a:ln w="9525" cap="flat" cmpd="sng">
            <a:solidFill>
              <a:schemeClr val="dk1"/>
            </a:solidFill>
            <a:prstDash val="solid"/>
            <a:miter lim="800000"/>
            <a:headEnd type="none" w="sm" len="sm"/>
            <a:tailEnd type="none" w="sm" len="sm"/>
          </a:ln>
        </p:spPr>
      </p:cxnSp>
      <p:cxnSp>
        <p:nvCxnSpPr>
          <p:cNvPr id="189" name="Google Shape;189;p66"/>
          <p:cNvCxnSpPr/>
          <p:nvPr/>
        </p:nvCxnSpPr>
        <p:spPr>
          <a:xfrm>
            <a:off x="1939697" y="1503818"/>
            <a:ext cx="1134900" cy="0"/>
          </a:xfrm>
          <a:prstGeom prst="straightConnector1">
            <a:avLst/>
          </a:prstGeom>
          <a:noFill/>
          <a:ln w="9525" cap="flat" cmpd="sng">
            <a:solidFill>
              <a:schemeClr val="dk1"/>
            </a:solidFill>
            <a:prstDash val="solid"/>
            <a:miter lim="800000"/>
            <a:headEnd type="none" w="sm" len="sm"/>
            <a:tailEnd type="none" w="sm" len="sm"/>
          </a:ln>
        </p:spPr>
      </p:cxnSp>
      <p:pic>
        <p:nvPicPr>
          <p:cNvPr id="190" name="Google Shape;190;p66"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
        <p:nvSpPr>
          <p:cNvPr id="191" name="Google Shape;191;p66"/>
          <p:cNvSpPr txBox="1"/>
          <p:nvPr/>
        </p:nvSpPr>
        <p:spPr>
          <a:xfrm>
            <a:off x="547282" y="430768"/>
            <a:ext cx="4504200" cy="489900"/>
          </a:xfrm>
          <a:prstGeom prst="rect">
            <a:avLst/>
          </a:prstGeom>
          <a:noFill/>
          <a:ln>
            <a:noFill/>
          </a:ln>
        </p:spPr>
        <p:txBody>
          <a:bodyPr spcFirstLastPara="1" wrap="square" lIns="68575" tIns="34275" rIns="68575" bIns="34275" anchor="b" anchorCtr="0">
            <a:normAutofit/>
          </a:bodyPr>
          <a:lstStyle/>
          <a:p>
            <a:pPr marL="0" marR="0" lvl="0" indent="0" algn="l" rtl="0">
              <a:lnSpc>
                <a:spcPct val="90000"/>
              </a:lnSpc>
              <a:spcBef>
                <a:spcPts val="0"/>
              </a:spcBef>
              <a:spcAft>
                <a:spcPts val="0"/>
              </a:spcAft>
              <a:buClr>
                <a:schemeClr val="dk1"/>
              </a:buClr>
              <a:buSzPts val="2400"/>
              <a:buFont typeface="Calibri"/>
              <a:buNone/>
            </a:pPr>
            <a:r>
              <a:rPr lang="en-US" sz="2400" b="0" i="0" u="none" strike="noStrike" cap="none">
                <a:solidFill>
                  <a:schemeClr val="dk1"/>
                </a:solidFill>
                <a:latin typeface="Calibri"/>
                <a:ea typeface="Calibri"/>
                <a:cs typeface="Calibri"/>
                <a:sym typeface="Calibri"/>
              </a:rPr>
              <a:t>Agenda</a:t>
            </a:r>
            <a:endParaRPr sz="11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p:cSld name="Two Content">
    <p:bg>
      <p:bgPr>
        <a:solidFill>
          <a:schemeClr val="accent1"/>
        </a:solidFill>
        <a:effectLst/>
      </p:bgPr>
    </p:bg>
    <p:spTree>
      <p:nvGrpSpPr>
        <p:cNvPr id="1" name="Shape 192"/>
        <p:cNvGrpSpPr/>
        <p:nvPr/>
      </p:nvGrpSpPr>
      <p:grpSpPr>
        <a:xfrm>
          <a:off x="0" y="0"/>
          <a:ext cx="0" cy="0"/>
          <a:chOff x="0" y="0"/>
          <a:chExt cx="0" cy="0"/>
        </a:xfrm>
      </p:grpSpPr>
      <p:sp>
        <p:nvSpPr>
          <p:cNvPr id="193" name="Google Shape;193;p67"/>
          <p:cNvSpPr txBox="1">
            <a:spLocks noGrp="1"/>
          </p:cNvSpPr>
          <p:nvPr>
            <p:ph type="title"/>
          </p:nvPr>
        </p:nvSpPr>
        <p:spPr>
          <a:xfrm>
            <a:off x="932328" y="332527"/>
            <a:ext cx="7583100" cy="7887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94" name="Google Shape;194;p67"/>
          <p:cNvSpPr txBox="1">
            <a:spLocks noGrp="1"/>
          </p:cNvSpPr>
          <p:nvPr>
            <p:ph type="body" idx="1"/>
          </p:nvPr>
        </p:nvSpPr>
        <p:spPr>
          <a:xfrm>
            <a:off x="932327" y="1449578"/>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5" name="Google Shape;195;p67"/>
          <p:cNvSpPr txBox="1">
            <a:spLocks noGrp="1"/>
          </p:cNvSpPr>
          <p:nvPr>
            <p:ph type="body" idx="2"/>
          </p:nvPr>
        </p:nvSpPr>
        <p:spPr>
          <a:xfrm>
            <a:off x="932328"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6" name="Google Shape;196;p67"/>
          <p:cNvSpPr txBox="1">
            <a:spLocks noGrp="1"/>
          </p:cNvSpPr>
          <p:nvPr>
            <p:ph type="body" idx="3"/>
          </p:nvPr>
        </p:nvSpPr>
        <p:spPr>
          <a:xfrm>
            <a:off x="3485748" y="1465082"/>
            <a:ext cx="21726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7" name="Google Shape;197;p67"/>
          <p:cNvSpPr txBox="1">
            <a:spLocks noGrp="1"/>
          </p:cNvSpPr>
          <p:nvPr>
            <p:ph type="body" idx="4"/>
          </p:nvPr>
        </p:nvSpPr>
        <p:spPr>
          <a:xfrm>
            <a:off x="3485749" y="2292532"/>
            <a:ext cx="21726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98" name="Google Shape;198;p67"/>
          <p:cNvSpPr txBox="1">
            <a:spLocks noGrp="1"/>
          </p:cNvSpPr>
          <p:nvPr>
            <p:ph type="body" idx="5"/>
          </p:nvPr>
        </p:nvSpPr>
        <p:spPr>
          <a:xfrm>
            <a:off x="6049815" y="1469172"/>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99" name="Google Shape;199;p67"/>
          <p:cNvSpPr txBox="1">
            <a:spLocks noGrp="1"/>
          </p:cNvSpPr>
          <p:nvPr>
            <p:ph type="body" idx="6"/>
          </p:nvPr>
        </p:nvSpPr>
        <p:spPr>
          <a:xfrm>
            <a:off x="6049816"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0" name="Google Shape;200;p6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1" name="Google Shape;201;p6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02" name="Google Shape;202;p67"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hree Content">
  <p:cSld name="Three Content">
    <p:bg>
      <p:bgPr>
        <a:solidFill>
          <a:schemeClr val="lt1"/>
        </a:solidFill>
        <a:effectLst/>
      </p:bgPr>
    </p:bg>
    <p:spTree>
      <p:nvGrpSpPr>
        <p:cNvPr id="1" name="Shape 203"/>
        <p:cNvGrpSpPr/>
        <p:nvPr/>
      </p:nvGrpSpPr>
      <p:grpSpPr>
        <a:xfrm>
          <a:off x="0" y="0"/>
          <a:ext cx="0" cy="0"/>
          <a:chOff x="0" y="0"/>
          <a:chExt cx="0" cy="0"/>
        </a:xfrm>
      </p:grpSpPr>
      <p:sp>
        <p:nvSpPr>
          <p:cNvPr id="204" name="Google Shape;204;p68"/>
          <p:cNvSpPr txBox="1">
            <a:spLocks noGrp="1"/>
          </p:cNvSpPr>
          <p:nvPr>
            <p:ph type="title"/>
          </p:nvPr>
        </p:nvSpPr>
        <p:spPr>
          <a:xfrm>
            <a:off x="932328" y="332527"/>
            <a:ext cx="7583100" cy="788700"/>
          </a:xfrm>
          <a:prstGeom prst="rect">
            <a:avLst/>
          </a:prstGeom>
          <a:noFill/>
          <a:ln>
            <a:noFill/>
          </a:ln>
        </p:spPr>
        <p:txBody>
          <a:bodyPr spcFirstLastPara="1" wrap="square" lIns="68575" tIns="34275" rIns="68575" bIns="34275" anchor="ctr" anchorCtr="0">
            <a:normAutofit/>
          </a:bodyPr>
          <a:lstStyle>
            <a:lvl1pPr lvl="0" algn="ctr">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05" name="Google Shape;205;p68"/>
          <p:cNvSpPr txBox="1">
            <a:spLocks noGrp="1"/>
          </p:cNvSpPr>
          <p:nvPr>
            <p:ph type="body" idx="1"/>
          </p:nvPr>
        </p:nvSpPr>
        <p:spPr>
          <a:xfrm>
            <a:off x="932327" y="1449578"/>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6" name="Google Shape;206;p68"/>
          <p:cNvSpPr txBox="1">
            <a:spLocks noGrp="1"/>
          </p:cNvSpPr>
          <p:nvPr>
            <p:ph type="body" idx="2"/>
          </p:nvPr>
        </p:nvSpPr>
        <p:spPr>
          <a:xfrm>
            <a:off x="932328"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7" name="Google Shape;207;p68"/>
          <p:cNvSpPr txBox="1">
            <a:spLocks noGrp="1"/>
          </p:cNvSpPr>
          <p:nvPr>
            <p:ph type="body" idx="3"/>
          </p:nvPr>
        </p:nvSpPr>
        <p:spPr>
          <a:xfrm>
            <a:off x="3485748" y="1465082"/>
            <a:ext cx="21726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08" name="Google Shape;208;p68"/>
          <p:cNvSpPr txBox="1">
            <a:spLocks noGrp="1"/>
          </p:cNvSpPr>
          <p:nvPr>
            <p:ph type="body" idx="4"/>
          </p:nvPr>
        </p:nvSpPr>
        <p:spPr>
          <a:xfrm>
            <a:off x="3485749" y="2292532"/>
            <a:ext cx="21726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9" name="Google Shape;209;p68"/>
          <p:cNvSpPr txBox="1">
            <a:spLocks noGrp="1"/>
          </p:cNvSpPr>
          <p:nvPr>
            <p:ph type="body" idx="5"/>
          </p:nvPr>
        </p:nvSpPr>
        <p:spPr>
          <a:xfrm>
            <a:off x="6049815" y="1469172"/>
            <a:ext cx="21618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500"/>
              <a:buNone/>
              <a:defRPr sz="1500">
                <a:solidFill>
                  <a:schemeClr val="dk1"/>
                </a:solidFill>
                <a:latin typeface="Calibri"/>
                <a:ea typeface="Calibri"/>
                <a:cs typeface="Calibri"/>
                <a:sym typeface="Calibri"/>
              </a:defRPr>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210" name="Google Shape;210;p68"/>
          <p:cNvSpPr txBox="1">
            <a:spLocks noGrp="1"/>
          </p:cNvSpPr>
          <p:nvPr>
            <p:ph type="body" idx="6"/>
          </p:nvPr>
        </p:nvSpPr>
        <p:spPr>
          <a:xfrm>
            <a:off x="6049816" y="2292532"/>
            <a:ext cx="2161800" cy="20820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100"/>
              <a:buNone/>
              <a:defRPr sz="1100"/>
            </a:lvl1pPr>
            <a:lvl2pPr marL="914400" lvl="1" indent="-228600" algn="l">
              <a:lnSpc>
                <a:spcPct val="100000"/>
              </a:lnSpc>
              <a:spcBef>
                <a:spcPts val="400"/>
              </a:spcBef>
              <a:spcAft>
                <a:spcPts val="0"/>
              </a:spcAft>
              <a:buClr>
                <a:schemeClr val="dk1"/>
              </a:buClr>
              <a:buSzPts val="1100"/>
              <a:buNone/>
              <a:defRPr sz="1100"/>
            </a:lvl2pPr>
            <a:lvl3pPr marL="1371600" lvl="2" indent="-228600" algn="l">
              <a:lnSpc>
                <a:spcPct val="100000"/>
              </a:lnSpc>
              <a:spcBef>
                <a:spcPts val="400"/>
              </a:spcBef>
              <a:spcAft>
                <a:spcPts val="0"/>
              </a:spcAft>
              <a:buClr>
                <a:schemeClr val="dk1"/>
              </a:buClr>
              <a:buSzPts val="1100"/>
              <a:buNone/>
              <a:defRPr sz="1100"/>
            </a:lvl3pPr>
            <a:lvl4pPr marL="1828800" lvl="3" indent="-228600" algn="l">
              <a:lnSpc>
                <a:spcPct val="100000"/>
              </a:lnSpc>
              <a:spcBef>
                <a:spcPts val="400"/>
              </a:spcBef>
              <a:spcAft>
                <a:spcPts val="0"/>
              </a:spcAft>
              <a:buClr>
                <a:schemeClr val="dk1"/>
              </a:buClr>
              <a:buSzPts val="1100"/>
              <a:buNone/>
              <a:defRPr sz="1100"/>
            </a:lvl4pPr>
            <a:lvl5pPr marL="2286000" lvl="4" indent="-228600" algn="l">
              <a:lnSpc>
                <a:spcPct val="100000"/>
              </a:lnSpc>
              <a:spcBef>
                <a:spcPts val="400"/>
              </a:spcBef>
              <a:spcAft>
                <a:spcPts val="0"/>
              </a:spcAft>
              <a:buClr>
                <a:schemeClr val="dk1"/>
              </a:buClr>
              <a:buSzPts val="1100"/>
              <a:buNone/>
              <a:defRPr sz="1100"/>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11" name="Google Shape;211;p6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2" name="Google Shape;212;p6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3" name="Google Shape;213;p68" descr="Birla Institute of Technology and Science, Pilani | Logopedia | Fandom"/>
          <p:cNvPicPr preferRelativeResize="0"/>
          <p:nvPr/>
        </p:nvPicPr>
        <p:blipFill rotWithShape="1">
          <a:blip r:embed="rId2">
            <a:alphaModFix/>
          </a:blip>
          <a:srcRect/>
          <a:stretch/>
        </p:blipFill>
        <p:spPr>
          <a:xfrm>
            <a:off x="0" y="21431"/>
            <a:ext cx="528638" cy="528638"/>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Summary">
  <p:cSld name="Summary">
    <p:spTree>
      <p:nvGrpSpPr>
        <p:cNvPr id="1" name="Shape 214"/>
        <p:cNvGrpSpPr/>
        <p:nvPr/>
      </p:nvGrpSpPr>
      <p:grpSpPr>
        <a:xfrm>
          <a:off x="0" y="0"/>
          <a:ext cx="0" cy="0"/>
          <a:chOff x="0" y="0"/>
          <a:chExt cx="0" cy="0"/>
        </a:xfrm>
      </p:grpSpPr>
      <p:sp>
        <p:nvSpPr>
          <p:cNvPr id="215" name="Google Shape;215;p69"/>
          <p:cNvSpPr txBox="1">
            <a:spLocks noGrp="1"/>
          </p:cNvSpPr>
          <p:nvPr>
            <p:ph type="title"/>
          </p:nvPr>
        </p:nvSpPr>
        <p:spPr>
          <a:xfrm>
            <a:off x="2890157" y="1253729"/>
            <a:ext cx="5051400" cy="903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100"/>
              <a:buFont typeface="Calibri"/>
              <a:buNone/>
              <a:defRPr sz="2100"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6" name="Google Shape;216;p69"/>
          <p:cNvSpPr txBox="1">
            <a:spLocks noGrp="1"/>
          </p:cNvSpPr>
          <p:nvPr>
            <p:ph type="body" idx="1"/>
          </p:nvPr>
        </p:nvSpPr>
        <p:spPr>
          <a:xfrm>
            <a:off x="2890157" y="2745581"/>
            <a:ext cx="5051400" cy="1144200"/>
          </a:xfrm>
          <a:prstGeom prst="rect">
            <a:avLst/>
          </a:prstGeom>
          <a:noFill/>
          <a:ln>
            <a:noFill/>
          </a:ln>
        </p:spPr>
        <p:txBody>
          <a:bodyPr spcFirstLastPara="1" wrap="square" lIns="68575" tIns="34275" rIns="68575" bIns="34275" anchor="t" anchorCtr="0">
            <a:normAutofit/>
          </a:bodyPr>
          <a:lstStyle>
            <a:lvl1pPr marL="457200" lvl="0" indent="-228600" algn="l">
              <a:lnSpc>
                <a:spcPct val="100000"/>
              </a:lnSpc>
              <a:spcBef>
                <a:spcPts val="800"/>
              </a:spcBef>
              <a:spcAft>
                <a:spcPts val="0"/>
              </a:spcAft>
              <a:buClr>
                <a:schemeClr val="dk1"/>
              </a:buClr>
              <a:buSzPts val="1800"/>
              <a:buNone/>
              <a:defRPr sz="1800">
                <a:solidFill>
                  <a:schemeClr val="dk1"/>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17" name="Google Shape;217;p6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8" name="Google Shape;218;p6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219" name="Google Shape;219;p69" descr="BITS Pilani logo"/>
          <p:cNvPicPr preferRelativeResize="0"/>
          <p:nvPr/>
        </p:nvPicPr>
        <p:blipFill rotWithShape="1">
          <a:blip r:embed="rId2">
            <a:alphaModFix/>
          </a:blip>
          <a:srcRect/>
          <a:stretch/>
        </p:blipFill>
        <p:spPr>
          <a:xfrm>
            <a:off x="6627529" y="144383"/>
            <a:ext cx="2504055" cy="649430"/>
          </a:xfrm>
          <a:prstGeom prst="rect">
            <a:avLst/>
          </a:prstGeom>
          <a:noFill/>
          <a:ln>
            <a:noFill/>
          </a:ln>
        </p:spPr>
      </p:pic>
    </p:spTree>
  </p:cSld>
  <p:clrMapOvr>
    <a:masterClrMapping/>
  </p:clrMapOvr>
  <p:extLst>
    <p:ext uri="{DCECCB84-F9BA-43D5-87BE-67443E8EF086}">
      <p15:sldGuideLst xmlns:p15="http://schemas.microsoft.com/office/powerpoint/2012/main">
        <p15:guide id="1" pos="225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losing">
  <p:cSld name="Closing">
    <p:bg>
      <p:bgPr>
        <a:solidFill>
          <a:schemeClr val="dk1"/>
        </a:solidFill>
        <a:effectLst/>
      </p:bgPr>
    </p:bg>
    <p:spTree>
      <p:nvGrpSpPr>
        <p:cNvPr id="1" name="Shape 220"/>
        <p:cNvGrpSpPr/>
        <p:nvPr/>
      </p:nvGrpSpPr>
      <p:grpSpPr>
        <a:xfrm>
          <a:off x="0" y="0"/>
          <a:ext cx="0" cy="0"/>
          <a:chOff x="0" y="0"/>
          <a:chExt cx="0" cy="0"/>
        </a:xfrm>
      </p:grpSpPr>
      <p:sp>
        <p:nvSpPr>
          <p:cNvPr id="221" name="Google Shape;221;p70"/>
          <p:cNvSpPr txBox="1">
            <a:spLocks noGrp="1"/>
          </p:cNvSpPr>
          <p:nvPr>
            <p:ph type="ctrTitle"/>
          </p:nvPr>
        </p:nvSpPr>
        <p:spPr>
          <a:xfrm>
            <a:off x="3200400" y="1211802"/>
            <a:ext cx="3134700" cy="1143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lt1"/>
              </a:buClr>
              <a:buSzPts val="2700"/>
              <a:buFont typeface="Calibri"/>
              <a:buNone/>
              <a:defRPr sz="2700">
                <a:solidFill>
                  <a:schemeClr val="lt1"/>
                </a:solidFill>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2" name="Google Shape;222;p70"/>
          <p:cNvSpPr txBox="1">
            <a:spLocks noGrp="1"/>
          </p:cNvSpPr>
          <p:nvPr>
            <p:ph type="subTitle" idx="1"/>
          </p:nvPr>
        </p:nvSpPr>
        <p:spPr>
          <a:xfrm>
            <a:off x="3200400" y="2428577"/>
            <a:ext cx="3134700" cy="1029000"/>
          </a:xfrm>
          <a:prstGeom prst="rect">
            <a:avLst/>
          </a:prstGeom>
          <a:noFill/>
          <a:ln>
            <a:noFill/>
          </a:ln>
        </p:spPr>
        <p:txBody>
          <a:bodyPr spcFirstLastPara="1" wrap="square" lIns="68575" tIns="34275" rIns="68575" bIns="34275" anchor="t" anchorCtr="0">
            <a:normAutofit/>
          </a:bodyPr>
          <a:lstStyle>
            <a:lvl1pPr lvl="0" algn="l">
              <a:lnSpc>
                <a:spcPct val="150000"/>
              </a:lnSpc>
              <a:spcBef>
                <a:spcPts val="800"/>
              </a:spcBef>
              <a:spcAft>
                <a:spcPts val="0"/>
              </a:spcAft>
              <a:buClr>
                <a:schemeClr val="lt1"/>
              </a:buClr>
              <a:buSzPts val="1100"/>
              <a:buNone/>
              <a:defRPr sz="1100">
                <a:solidFill>
                  <a:schemeClr val="lt1"/>
                </a:solidFill>
              </a:defRPr>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pic>
        <p:nvPicPr>
          <p:cNvPr id="223" name="Google Shape;223;p70"/>
          <p:cNvPicPr preferRelativeResize="0"/>
          <p:nvPr/>
        </p:nvPicPr>
        <p:blipFill rotWithShape="1">
          <a:blip r:embed="rId2">
            <a:alphaModFix/>
          </a:blip>
          <a:srcRect/>
          <a:stretch/>
        </p:blipFill>
        <p:spPr>
          <a:xfrm>
            <a:off x="0" y="0"/>
            <a:ext cx="2382704" cy="5143500"/>
          </a:xfrm>
          <a:prstGeom prst="rect">
            <a:avLst/>
          </a:prstGeom>
          <a:noFill/>
          <a:ln>
            <a:noFill/>
          </a:ln>
        </p:spPr>
      </p:pic>
      <p:sp>
        <p:nvSpPr>
          <p:cNvPr id="224" name="Google Shape;224;p70"/>
          <p:cNvSpPr txBox="1">
            <a:spLocks noGrp="1"/>
          </p:cNvSpPr>
          <p:nvPr>
            <p:ph type="ftr" idx="11"/>
          </p:nvPr>
        </p:nvSpPr>
        <p:spPr>
          <a:xfrm>
            <a:off x="4859791" y="4767263"/>
            <a:ext cx="19962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sz="7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5" name="Google Shape;225;p70"/>
          <p:cNvSpPr txBox="1">
            <a:spLocks noGrp="1"/>
          </p:cNvSpPr>
          <p:nvPr>
            <p:ph type="sldNum" idx="12"/>
          </p:nvPr>
        </p:nvSpPr>
        <p:spPr>
          <a:xfrm>
            <a:off x="7184571" y="4767263"/>
            <a:ext cx="13308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2.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9"/>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
        <p:cNvGrpSpPr/>
        <p:nvPr/>
      </p:nvGrpSpPr>
      <p:grpSpPr>
        <a:xfrm>
          <a:off x="0" y="0"/>
          <a:ext cx="0" cy="0"/>
          <a:chOff x="0" y="0"/>
          <a:chExt cx="0" cy="0"/>
        </a:xfrm>
      </p:grpSpPr>
      <p:sp>
        <p:nvSpPr>
          <p:cNvPr id="69" name="Google Shape;69;p4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0" name="Google Shape;70;p4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1" name="Google Shape;71;p4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2" name="Google Shape;72;p4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people.engr.tamu.edu/guni/csce689/index.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jp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3.png"/><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10" Type="http://schemas.openxmlformats.org/officeDocument/2006/relationships/image" Target="NULL"/><Relationship Id="rId4" Type="http://schemas.openxmlformats.org/officeDocument/2006/relationships/image" Target="../media/image19.png"/><Relationship Id="rId9" Type="http://schemas.openxmlformats.org/officeDocument/2006/relationships/customXml" Target="../ink/ink1.xml"/></Relationships>
</file>

<file path=ppt/slides/_rels/slide1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media/image11.png"/><Relationship Id="rId10" Type="http://schemas.openxmlformats.org/officeDocument/2006/relationships/customXml" Target="../ink/ink2.xml"/><Relationship Id="rId4" Type="http://schemas.openxmlformats.org/officeDocument/2006/relationships/image" Target="../media/image19.png"/><Relationship Id="rId9" Type="http://schemas.openxmlformats.org/officeDocument/2006/relationships/image" Target="../media/image3.png"/></Relationships>
</file>

<file path=ppt/slides/_rels/slide1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18.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NUL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media/image11.png"/><Relationship Id="rId10" Type="http://schemas.openxmlformats.org/officeDocument/2006/relationships/customXml" Target="../ink/ink3.xml"/><Relationship Id="rId4" Type="http://schemas.openxmlformats.org/officeDocument/2006/relationships/image" Target="../media/image19.png"/><Relationship Id="rId9" Type="http://schemas.openxmlformats.org/officeDocument/2006/relationships/image" Target="../media/image3.png"/></Relationships>
</file>

<file path=ppt/slides/_rels/slide2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7.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8.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29.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0.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1.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3.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media/image11.png"/><Relationship Id="rId10" Type="http://schemas.openxmlformats.org/officeDocument/2006/relationships/customXml" Target="../ink/ink4.xml"/><Relationship Id="rId4" Type="http://schemas.openxmlformats.org/officeDocument/2006/relationships/image" Target="../media/image19.png"/><Relationship Id="rId9"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5.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5" Type="http://schemas.openxmlformats.org/officeDocument/2006/relationships/image" Target="../media/image11.png"/><Relationship Id="rId4" Type="http://schemas.openxmlformats.org/officeDocument/2006/relationships/image" Target="../media/image19.png"/><Relationship Id="rId9" Type="http://schemas.openxmlformats.org/officeDocument/2006/relationships/image" Target="../media/image3.png"/></Relationships>
</file>

<file path=ppt/slides/_rels/slide36.xml.rels><?xml version="1.0" encoding="UTF-8" standalone="yes"?>
<Relationships xmlns="http://schemas.openxmlformats.org/package/2006/relationships"><Relationship Id="rId8" Type="http://schemas.openxmlformats.org/officeDocument/2006/relationships/image" Target="NULL"/><Relationship Id="rId3" Type="http://schemas.openxmlformats.org/officeDocument/2006/relationships/image" Target="../media/image9.jpg"/><Relationship Id="rId7" Type="http://schemas.openxmlformats.org/officeDocument/2006/relationships/image" Target="NULL"/><Relationship Id="rId2" Type="http://schemas.openxmlformats.org/officeDocument/2006/relationships/image" Target="../media/image20.png"/><Relationship Id="rId1" Type="http://schemas.openxmlformats.org/officeDocument/2006/relationships/slideLayout" Target="../slideLayouts/slideLayout3.xml"/><Relationship Id="rId6" Type="http://schemas.openxmlformats.org/officeDocument/2006/relationships/image" Target="NULL"/><Relationship Id="rId11" Type="http://schemas.openxmlformats.org/officeDocument/2006/relationships/image" Target="NULL"/><Relationship Id="rId5" Type="http://schemas.openxmlformats.org/officeDocument/2006/relationships/image" Target="../media/image11.png"/><Relationship Id="rId10" Type="http://schemas.openxmlformats.org/officeDocument/2006/relationships/customXml" Target="../ink/ink5.xml"/><Relationship Id="rId4" Type="http://schemas.openxmlformats.org/officeDocument/2006/relationships/image" Target="../media/image19.png"/><Relationship Id="rId9"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
          <p:cNvSpPr txBox="1">
            <a:spLocks noGrp="1"/>
          </p:cNvSpPr>
          <p:nvPr>
            <p:ph type="ctrTitle"/>
          </p:nvPr>
        </p:nvSpPr>
        <p:spPr>
          <a:xfrm>
            <a:off x="3206505" y="2309676"/>
            <a:ext cx="5510700" cy="524400"/>
          </a:xfrm>
          <a:prstGeom prst="rect">
            <a:avLst/>
          </a:prstGeom>
          <a:noFill/>
          <a:ln>
            <a:noFill/>
          </a:ln>
        </p:spPr>
        <p:txBody>
          <a:bodyPr spcFirstLastPara="1" wrap="square" lIns="68575" tIns="34275" rIns="68575" bIns="34275" anchor="b" anchorCtr="0">
            <a:noAutofit/>
          </a:bodyPr>
          <a:lstStyle/>
          <a:p>
            <a:pPr marL="0" lvl="0" indent="0" algn="l" rtl="0">
              <a:lnSpc>
                <a:spcPct val="90000"/>
              </a:lnSpc>
              <a:spcBef>
                <a:spcPts val="0"/>
              </a:spcBef>
              <a:spcAft>
                <a:spcPts val="0"/>
              </a:spcAft>
              <a:buClr>
                <a:schemeClr val="dk1"/>
              </a:buClr>
              <a:buSzPts val="2700"/>
              <a:buFont typeface="Calibri"/>
              <a:buNone/>
            </a:pPr>
            <a:endParaRPr/>
          </a:p>
          <a:p>
            <a:pPr marL="0" lvl="0" indent="0" algn="l" rtl="0">
              <a:lnSpc>
                <a:spcPct val="90000"/>
              </a:lnSpc>
              <a:spcBef>
                <a:spcPts val="0"/>
              </a:spcBef>
              <a:spcAft>
                <a:spcPts val="0"/>
              </a:spcAft>
              <a:buClr>
                <a:schemeClr val="dk1"/>
              </a:buClr>
              <a:buSzPts val="2700"/>
              <a:buFont typeface="Calibri"/>
              <a:buNone/>
            </a:pPr>
            <a:r>
              <a:rPr lang="en-US" u="sng"/>
              <a:t>Session #9: </a:t>
            </a:r>
            <a:endParaRPr u="sng"/>
          </a:p>
          <a:p>
            <a:pPr marL="0" lvl="0" indent="0" algn="l" rtl="0">
              <a:lnSpc>
                <a:spcPct val="90000"/>
              </a:lnSpc>
              <a:spcBef>
                <a:spcPts val="0"/>
              </a:spcBef>
              <a:spcAft>
                <a:spcPts val="0"/>
              </a:spcAft>
              <a:buClr>
                <a:schemeClr val="dk1"/>
              </a:buClr>
              <a:buSzPts val="2700"/>
              <a:buFont typeface="Calibri"/>
              <a:buNone/>
            </a:pPr>
            <a:r>
              <a:rPr lang="en-US"/>
              <a:t>Temporal Difference Learning </a:t>
            </a:r>
            <a:endParaRPr/>
          </a:p>
        </p:txBody>
      </p:sp>
      <p:sp>
        <p:nvSpPr>
          <p:cNvPr id="231" name="Google Shape;231;p1"/>
          <p:cNvSpPr txBox="1">
            <a:spLocks noGrp="1"/>
          </p:cNvSpPr>
          <p:nvPr>
            <p:ph type="sldNum" idx="4294967295"/>
          </p:nvPr>
        </p:nvSpPr>
        <p:spPr>
          <a:xfrm>
            <a:off x="708660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t>1</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2"/>
          <p:cNvSpPr txBox="1">
            <a:spLocks noGrp="1"/>
          </p:cNvSpPr>
          <p:nvPr>
            <p:ph type="title"/>
          </p:nvPr>
        </p:nvSpPr>
        <p:spPr>
          <a:xfrm>
            <a:off x="628650" y="273844"/>
            <a:ext cx="7886700" cy="934800"/>
          </a:xfrm>
          <a:prstGeom prst="rect">
            <a:avLst/>
          </a:prstGeom>
          <a:noFill/>
          <a:ln>
            <a:noFill/>
          </a:ln>
        </p:spPr>
        <p:txBody>
          <a:bodyPr spcFirstLastPara="1" wrap="square" lIns="68575" tIns="34275" rIns="68575" bIns="34275" anchor="ctr" anchorCtr="0">
            <a:normAutofit/>
          </a:bodyPr>
          <a:lstStyle/>
          <a:p>
            <a:pPr marL="0" lvl="0" indent="0" algn="l" rtl="0">
              <a:lnSpc>
                <a:spcPct val="90000"/>
              </a:lnSpc>
              <a:spcBef>
                <a:spcPts val="0"/>
              </a:spcBef>
              <a:spcAft>
                <a:spcPts val="0"/>
              </a:spcAft>
              <a:buSzPts val="3000"/>
              <a:buNone/>
            </a:pPr>
            <a:r>
              <a:rPr lang="en-US"/>
              <a:t>Agenda for the class </a:t>
            </a:r>
            <a:endParaRPr/>
          </a:p>
        </p:txBody>
      </p:sp>
      <p:sp>
        <p:nvSpPr>
          <p:cNvPr id="238" name="Google Shape;238;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700"/>
              <a:buFont typeface="Arial"/>
              <a:buNone/>
            </a:pPr>
            <a:fld id="{00000000-1234-1234-1234-123412341234}" type="slidenum">
              <a:rPr lang="en-US"/>
              <a:t>2</a:t>
            </a:fld>
            <a:endParaRPr/>
          </a:p>
        </p:txBody>
      </p:sp>
      <p:sp>
        <p:nvSpPr>
          <p:cNvPr id="239" name="Google Shape;239;p2"/>
          <p:cNvSpPr txBox="1">
            <a:spLocks noGrp="1"/>
          </p:cNvSpPr>
          <p:nvPr>
            <p:ph type="body" idx="1"/>
          </p:nvPr>
        </p:nvSpPr>
        <p:spPr>
          <a:xfrm>
            <a:off x="628650" y="1420585"/>
            <a:ext cx="7886700" cy="3135300"/>
          </a:xfrm>
          <a:prstGeom prst="rect">
            <a:avLst/>
          </a:prstGeom>
          <a:noFill/>
          <a:ln>
            <a:noFill/>
          </a:ln>
        </p:spPr>
        <p:txBody>
          <a:bodyPr spcFirstLastPara="1" wrap="square" lIns="68575" tIns="34275" rIns="68575" bIns="34275" anchor="t" anchorCtr="0">
            <a:normAutofit/>
          </a:bodyPr>
          <a:lstStyle/>
          <a:p>
            <a:pPr marL="342900" lvl="0" indent="-298450" algn="l" rtl="0">
              <a:lnSpc>
                <a:spcPct val="100000"/>
              </a:lnSpc>
              <a:spcBef>
                <a:spcPts val="0"/>
              </a:spcBef>
              <a:spcAft>
                <a:spcPts val="0"/>
              </a:spcAft>
              <a:buSzPts val="2100"/>
              <a:buChar char="•"/>
            </a:pPr>
            <a:r>
              <a:rPr lang="en-US"/>
              <a:t>Temporal Difference Learning</a:t>
            </a:r>
            <a:endParaRPr/>
          </a:p>
          <a:p>
            <a:pPr marL="457200" lvl="0" indent="-361950" algn="l" rtl="0">
              <a:lnSpc>
                <a:spcPct val="100000"/>
              </a:lnSpc>
              <a:spcBef>
                <a:spcPts val="0"/>
              </a:spcBef>
              <a:spcAft>
                <a:spcPts val="0"/>
              </a:spcAft>
              <a:buSzPts val="2100"/>
              <a:buChar char="-"/>
            </a:pPr>
            <a:r>
              <a:rPr lang="en-US"/>
              <a:t>TD(0)</a:t>
            </a:r>
            <a:endParaRPr/>
          </a:p>
          <a:p>
            <a:pPr marL="457200" lvl="0" indent="-361950" algn="l" rtl="0">
              <a:lnSpc>
                <a:spcPct val="100000"/>
              </a:lnSpc>
              <a:spcBef>
                <a:spcPts val="0"/>
              </a:spcBef>
              <a:spcAft>
                <a:spcPts val="0"/>
              </a:spcAft>
              <a:buSzPts val="2100"/>
              <a:buChar char="-"/>
            </a:pPr>
            <a:r>
              <a:rPr lang="en-US"/>
              <a:t>SARSA</a:t>
            </a:r>
            <a:endParaRPr/>
          </a:p>
          <a:p>
            <a:pPr marL="457200" lvl="0" indent="-361950" algn="l" rtl="0">
              <a:lnSpc>
                <a:spcPct val="100000"/>
              </a:lnSpc>
              <a:spcBef>
                <a:spcPts val="0"/>
              </a:spcBef>
              <a:spcAft>
                <a:spcPts val="0"/>
              </a:spcAft>
              <a:buSzPts val="2100"/>
              <a:buChar char="-"/>
            </a:pPr>
            <a:r>
              <a:rPr lang="en-US"/>
              <a:t>Q-Learning</a:t>
            </a:r>
            <a:endParaRPr/>
          </a:p>
        </p:txBody>
      </p:sp>
      <p:sp>
        <p:nvSpPr>
          <p:cNvPr id="240" name="Google Shape;240;p2"/>
          <p:cNvSpPr txBox="1">
            <a:spLocks noGrp="1"/>
          </p:cNvSpPr>
          <p:nvPr>
            <p:ph type="ftr" idx="11"/>
          </p:nvPr>
        </p:nvSpPr>
        <p:spPr>
          <a:xfrm>
            <a:off x="35719" y="4768463"/>
            <a:ext cx="8533500" cy="273900"/>
          </a:xfrm>
          <a:prstGeom prst="rect">
            <a:avLst/>
          </a:prstGeom>
          <a:noFill/>
          <a:ln>
            <a:noFill/>
          </a:ln>
        </p:spPr>
        <p:txBody>
          <a:bodyPr spcFirstLastPara="1" wrap="square" lIns="68575" tIns="34275" rIns="68575" bIns="34275" anchor="ctr" anchorCtr="0">
            <a:noAutofit/>
          </a:bodyPr>
          <a:lstStyle/>
          <a:p>
            <a:pPr marL="0" lvl="0" indent="0" algn="ctr" rtl="0">
              <a:lnSpc>
                <a:spcPct val="100000"/>
              </a:lnSpc>
              <a:spcBef>
                <a:spcPts val="0"/>
              </a:spcBef>
              <a:spcAft>
                <a:spcPts val="0"/>
              </a:spcAft>
              <a:buSzPts val="1100"/>
              <a:buNone/>
            </a:pPr>
            <a:r>
              <a:rPr lang="en-US" sz="1100" u="sng">
                <a:solidFill>
                  <a:srgbClr val="A61C00"/>
                </a:solidFill>
                <a:highlight>
                  <a:srgbClr val="C9DAF8"/>
                </a:highlight>
              </a:rPr>
              <a:t>Acknowledgements</a:t>
            </a:r>
            <a:r>
              <a:rPr lang="en-US" sz="1100">
                <a:solidFill>
                  <a:srgbClr val="A61C00"/>
                </a:solidFill>
                <a:highlight>
                  <a:srgbClr val="C9DAF8"/>
                </a:highlight>
              </a:rPr>
              <a:t>: Some of the slides were adopted </a:t>
            </a:r>
            <a:r>
              <a:rPr lang="en-US" sz="1100" i="1" u="sng">
                <a:solidFill>
                  <a:srgbClr val="A61C00"/>
                </a:solidFill>
                <a:highlight>
                  <a:srgbClr val="C9DAF8"/>
                </a:highlight>
              </a:rPr>
              <a:t>with permission</a:t>
            </a:r>
            <a:r>
              <a:rPr lang="en-US" sz="1100">
                <a:solidFill>
                  <a:srgbClr val="A61C00"/>
                </a:solidFill>
                <a:highlight>
                  <a:srgbClr val="C9DAF8"/>
                </a:highlight>
              </a:rPr>
              <a:t> from the course </a:t>
            </a:r>
            <a:r>
              <a:rPr lang="en-US" sz="1100" u="sng">
                <a:solidFill>
                  <a:schemeClr val="hlink"/>
                </a:solidFill>
                <a:highlight>
                  <a:srgbClr val="C9DAF8"/>
                </a:highlight>
                <a:hlinkClick r:id="rId3"/>
              </a:rPr>
              <a:t>CSCE-689</a:t>
            </a:r>
            <a:r>
              <a:rPr lang="en-US" sz="1100">
                <a:solidFill>
                  <a:srgbClr val="A61C00"/>
                </a:solidFill>
                <a:highlight>
                  <a:srgbClr val="C9DAF8"/>
                </a:highlight>
              </a:rPr>
              <a:t>  (Texas A&amp;M University) by Prof.  Guni Sharon</a:t>
            </a:r>
            <a:endParaRPr sz="1100">
              <a:solidFill>
                <a:srgbClr val="A61C00"/>
              </a:solidFill>
              <a:highlight>
                <a:srgbClr val="C9DAF8"/>
              </a:high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t>Solving MDPs so far</a:t>
            </a:r>
            <a:endParaRPr/>
          </a:p>
        </p:txBody>
      </p:sp>
      <p:sp>
        <p:nvSpPr>
          <p:cNvPr id="246" name="Google Shape;246;p3"/>
          <p:cNvSpPr txBox="1"/>
          <p:nvPr/>
        </p:nvSpPr>
        <p:spPr>
          <a:xfrm>
            <a:off x="628650" y="1650543"/>
            <a:ext cx="3593820" cy="175432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Dynamic programming</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Off policy </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local learning, propagating values from neighbors (Bootstrapping) </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Model based</a:t>
            </a:r>
            <a:endParaRPr/>
          </a:p>
        </p:txBody>
      </p:sp>
      <p:sp>
        <p:nvSpPr>
          <p:cNvPr id="247" name="Google Shape;247;p3"/>
          <p:cNvSpPr txBox="1"/>
          <p:nvPr/>
        </p:nvSpPr>
        <p:spPr>
          <a:xfrm>
            <a:off x="4921531" y="1650543"/>
            <a:ext cx="3593819" cy="175432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Monte-Carlo</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On-policy (though important sampling can be used)</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Requires a full episode to train on</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Model free, online learning</a:t>
            </a:r>
            <a:endParaRPr/>
          </a:p>
        </p:txBody>
      </p:sp>
      <p:pic>
        <p:nvPicPr>
          <p:cNvPr id="248" name="Google Shape;248;p3" descr="Image result for treasure clipart"/>
          <p:cNvPicPr preferRelativeResize="0"/>
          <p:nvPr/>
        </p:nvPicPr>
        <p:blipFill rotWithShape="1">
          <a:blip r:embed="rId3">
            <a:alphaModFix/>
          </a:blip>
          <a:srcRect/>
          <a:stretch/>
        </p:blipFill>
        <p:spPr>
          <a:xfrm>
            <a:off x="5611021" y="4189116"/>
            <a:ext cx="665633" cy="452630"/>
          </a:xfrm>
          <a:prstGeom prst="rect">
            <a:avLst/>
          </a:prstGeom>
          <a:noFill/>
          <a:ln>
            <a:noFill/>
          </a:ln>
        </p:spPr>
      </p:pic>
      <p:graphicFrame>
        <p:nvGraphicFramePr>
          <p:cNvPr id="249" name="Google Shape;249;p3"/>
          <p:cNvGraphicFramePr/>
          <p:nvPr/>
        </p:nvGraphicFramePr>
        <p:xfrm>
          <a:off x="3550753" y="4042021"/>
          <a:ext cx="2743200" cy="1371600"/>
        </p:xfrm>
        <a:graphic>
          <a:graphicData uri="http://schemas.openxmlformats.org/drawingml/2006/table">
            <a:tbl>
              <a:tblPr firstRow="1" bandRow="1">
                <a:noFill/>
                <a:tableStyleId>{D0E33827-207D-4CA6-9A5F-756F78912E09}</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685800">
                <a:tc>
                  <a:txBody>
                    <a:bodyPr/>
                    <a:lstStyle/>
                    <a:p>
                      <a:pPr marL="0" marR="0" lvl="0" indent="0" algn="l" rtl="0">
                        <a:lnSpc>
                          <a:spcPct val="100000"/>
                        </a:lnSpc>
                        <a:spcBef>
                          <a:spcPts val="0"/>
                        </a:spcBef>
                        <a:spcAft>
                          <a:spcPts val="0"/>
                        </a:spcAft>
                        <a:buNone/>
                      </a:pPr>
                      <a:endParaRPr sz="1100" u="none" strike="noStrike" cap="none"/>
                    </a:p>
                  </a:txBody>
                  <a:tcPr marL="68575" marR="68575"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100" u="none" strike="noStrike" cap="none"/>
                    </a:p>
                  </a:txBody>
                  <a:tcPr marL="68575" marR="68575"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100" u="none" strike="noStrike" cap="none"/>
                    </a:p>
                  </a:txBody>
                  <a:tcPr marL="68575" marR="68575"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100" u="none" strike="noStrike" cap="none"/>
                    </a:p>
                  </a:txBody>
                  <a:tcPr marL="68575" marR="68575" marT="34300" marB="3430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685800">
                <a:tc>
                  <a:txBody>
                    <a:bodyPr/>
                    <a:lstStyle/>
                    <a:p>
                      <a:pPr marL="0" marR="0" lvl="0" indent="0" algn="ctr" rtl="0">
                        <a:lnSpc>
                          <a:spcPct val="100000"/>
                        </a:lnSpc>
                        <a:spcBef>
                          <a:spcPts val="0"/>
                        </a:spcBef>
                        <a:spcAft>
                          <a:spcPts val="0"/>
                        </a:spcAft>
                        <a:buNone/>
                      </a:pPr>
                      <a:r>
                        <a:rPr lang="en-US" sz="1100" u="none" strike="noStrike" cap="none"/>
                        <a:t>w</a:t>
                      </a:r>
                      <a:endParaRPr/>
                    </a:p>
                  </a:txBody>
                  <a:tcPr marL="68575" marR="68575"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100" u="none" strike="noStrike" cap="none"/>
                        <a:t>x</a:t>
                      </a:r>
                      <a:endParaRPr/>
                    </a:p>
                  </a:txBody>
                  <a:tcPr marL="68575" marR="68575"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100" u="none" strike="noStrike" cap="none"/>
                        <a:t>y</a:t>
                      </a:r>
                      <a:endParaRPr/>
                    </a:p>
                  </a:txBody>
                  <a:tcPr marL="68575" marR="68575"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None/>
                      </a:pPr>
                      <a:r>
                        <a:rPr lang="en-US" sz="1100" u="none" strike="noStrike" cap="none"/>
                        <a:t>z</a:t>
                      </a:r>
                      <a:endParaRPr/>
                    </a:p>
                  </a:txBody>
                  <a:tcPr marL="68575" marR="68575" marT="34300" marB="3430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250" name="Google Shape;250;p3" descr="Image result for robot clipart"/>
          <p:cNvPicPr preferRelativeResize="0"/>
          <p:nvPr/>
        </p:nvPicPr>
        <p:blipFill rotWithShape="1">
          <a:blip r:embed="rId4">
            <a:alphaModFix/>
          </a:blip>
          <a:srcRect/>
          <a:stretch/>
        </p:blipFill>
        <p:spPr>
          <a:xfrm>
            <a:off x="4312356" y="4048816"/>
            <a:ext cx="511689" cy="603151"/>
          </a:xfrm>
          <a:prstGeom prst="rect">
            <a:avLst/>
          </a:prstGeom>
          <a:noFill/>
          <a:ln>
            <a:noFill/>
          </a:ln>
        </p:spPr>
      </p:pic>
      <p:pic>
        <p:nvPicPr>
          <p:cNvPr id="251" name="Google Shape;251;p3" descr="Pirate by Firkin"/>
          <p:cNvPicPr preferRelativeResize="0"/>
          <p:nvPr/>
        </p:nvPicPr>
        <p:blipFill rotWithShape="1">
          <a:blip r:embed="rId5">
            <a:alphaModFix/>
          </a:blip>
          <a:srcRect/>
          <a:stretch/>
        </p:blipFill>
        <p:spPr>
          <a:xfrm>
            <a:off x="3609037" y="4029225"/>
            <a:ext cx="610217" cy="642334"/>
          </a:xfrm>
          <a:prstGeom prst="rect">
            <a:avLst/>
          </a:prstGeom>
          <a:noFill/>
          <a:ln>
            <a:noFill/>
          </a:ln>
        </p:spPr>
      </p:pic>
      <p:sp>
        <p:nvSpPr>
          <p:cNvPr id="252" name="Google Shape;252;p3"/>
          <p:cNvSpPr txBox="1"/>
          <p:nvPr/>
        </p:nvSpPr>
        <p:spPr>
          <a:xfrm>
            <a:off x="5711683" y="3707410"/>
            <a:ext cx="511679"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00B050"/>
                </a:solidFill>
                <a:latin typeface="Arial"/>
                <a:ea typeface="Arial"/>
                <a:cs typeface="Arial"/>
                <a:sym typeface="Arial"/>
              </a:rPr>
              <a:t>+10</a:t>
            </a:r>
            <a:endParaRPr/>
          </a:p>
        </p:txBody>
      </p:sp>
      <p:sp>
        <p:nvSpPr>
          <p:cNvPr id="253" name="Google Shape;253;p3"/>
          <p:cNvSpPr txBox="1"/>
          <p:nvPr/>
        </p:nvSpPr>
        <p:spPr>
          <a:xfrm>
            <a:off x="3652535" y="3707410"/>
            <a:ext cx="570990" cy="3231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500" b="1" i="0" u="none" strike="noStrike" cap="none">
                <a:solidFill>
                  <a:srgbClr val="FF0000"/>
                </a:solidFill>
                <a:latin typeface="Arial"/>
                <a:ea typeface="Arial"/>
                <a:cs typeface="Arial"/>
                <a:sym typeface="Arial"/>
              </a:rPr>
              <a:t>-100</a:t>
            </a:r>
            <a:endParaRPr/>
          </a:p>
        </p:txBody>
      </p:sp>
      <p:sp>
        <p:nvSpPr>
          <p:cNvPr id="254" name="Google Shape;254;p3"/>
          <p:cNvSpPr/>
          <p:nvPr/>
        </p:nvSpPr>
        <p:spPr>
          <a:xfrm>
            <a:off x="4508436" y="3452786"/>
            <a:ext cx="649345" cy="253916"/>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55" name="Google Shape;255;p3"/>
          <p:cNvSpPr txBox="1"/>
          <p:nvPr/>
        </p:nvSpPr>
        <p:spPr>
          <a:xfrm>
            <a:off x="191506" y="3584338"/>
            <a:ext cx="3290709" cy="1763303"/>
          </a:xfrm>
          <a:prstGeom prst="rect">
            <a:avLst/>
          </a:prstGeom>
          <a:blipFill rotWithShape="1">
            <a:blip r:embed="rId7">
              <a:alphaModFix/>
            </a:blip>
            <a:stretch>
              <a:fillRect l="-1109" t="-690" b="-2698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56" name="Google Shape;256;p3"/>
          <p:cNvSpPr txBox="1"/>
          <p:nvPr/>
        </p:nvSpPr>
        <p:spPr>
          <a:xfrm>
            <a:off x="6435587" y="3584337"/>
            <a:ext cx="2724720" cy="1754326"/>
          </a:xfrm>
          <a:prstGeom prst="rect">
            <a:avLst/>
          </a:prstGeom>
          <a:blipFill rotWithShape="1">
            <a:blip r:embed="rId8">
              <a:alphaModFix/>
            </a:blip>
            <a:stretch>
              <a:fillRect l="-1565" t="-2082"/>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257" name="Google Shape;257;p3"/>
          <p:cNvSpPr txBox="1">
            <a:spLocks noGrp="1"/>
          </p:cNvSpPr>
          <p:nvPr>
            <p:ph type="sldNum" idx="12"/>
          </p:nvPr>
        </p:nvSpPr>
        <p:spPr>
          <a:xfrm>
            <a:off x="6457950" y="4732734"/>
            <a:ext cx="2057400" cy="273844"/>
          </a:xfrm>
          <a:prstGeom prst="rect">
            <a:avLst/>
          </a:prstGeom>
          <a:noFill/>
          <a:ln>
            <a:noFill/>
          </a:ln>
        </p:spPr>
        <p:txBody>
          <a:bodyPr spcFirstLastPara="1" wrap="square" lIns="91425" tIns="91425" rIns="91425" bIns="91425" anchor="ctr" anchorCtr="0">
            <a:normAutofit fontScale="70000" lnSpcReduction="20000"/>
          </a:bodyPr>
          <a:lstStyle/>
          <a:p>
            <a:pPr marL="0" lvl="0" indent="0" algn="r" rtl="0">
              <a:lnSpc>
                <a:spcPct val="100000"/>
              </a:lnSpc>
              <a:spcBef>
                <a:spcPts val="0"/>
              </a:spcBef>
              <a:spcAft>
                <a:spcPts val="0"/>
              </a:spcAft>
              <a:buSzPct val="100000"/>
              <a:buNone/>
            </a:pPr>
            <a:fld id="{00000000-1234-1234-1234-123412341234}" type="slidenum">
              <a:rPr lang="en-US"/>
              <a:t>3</a:t>
            </a:fld>
            <a:endParaRPr/>
          </a:p>
        </p:txBody>
      </p:sp>
      <p:pic>
        <p:nvPicPr>
          <p:cNvPr id="258" name="Google Shape;258;p3"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5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t>Fuse DP and MC</a:t>
            </a:r>
            <a:endParaRPr/>
          </a:p>
        </p:txBody>
      </p:sp>
      <p:sp>
        <p:nvSpPr>
          <p:cNvPr id="264" name="Google Shape;264;p4"/>
          <p:cNvSpPr txBox="1"/>
          <p:nvPr/>
        </p:nvSpPr>
        <p:spPr>
          <a:xfrm>
            <a:off x="610362" y="1041900"/>
            <a:ext cx="3593820" cy="175432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Dynamic programming</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Off policy </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local learning, propagating values from neighbors (Bootstrapping) </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Model based</a:t>
            </a:r>
            <a:endParaRPr/>
          </a:p>
        </p:txBody>
      </p:sp>
      <p:sp>
        <p:nvSpPr>
          <p:cNvPr id="265" name="Google Shape;265;p4"/>
          <p:cNvSpPr txBox="1"/>
          <p:nvPr/>
        </p:nvSpPr>
        <p:spPr>
          <a:xfrm>
            <a:off x="4878639" y="1017725"/>
            <a:ext cx="3593819" cy="175432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Monte-Carlo</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On-policy (though important sampling can be used)</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Requires a full episode to train on</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Model free, online learning</a:t>
            </a:r>
            <a:endParaRPr/>
          </a:p>
        </p:txBody>
      </p:sp>
      <p:sp>
        <p:nvSpPr>
          <p:cNvPr id="266" name="Google Shape;266;p4"/>
          <p:cNvSpPr txBox="1"/>
          <p:nvPr/>
        </p:nvSpPr>
        <p:spPr>
          <a:xfrm>
            <a:off x="2775090" y="3389174"/>
            <a:ext cx="3593820" cy="1754326"/>
          </a:xfrm>
          <a:prstGeom prst="rect">
            <a:avLst/>
          </a:prstGeom>
          <a:noFill/>
          <a:ln w="9525"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800" b="1" i="0" u="none" strike="noStrike" cap="none">
                <a:solidFill>
                  <a:srgbClr val="000000"/>
                </a:solidFill>
                <a:latin typeface="Arial"/>
                <a:ea typeface="Arial"/>
                <a:cs typeface="Arial"/>
                <a:sym typeface="Arial"/>
              </a:rPr>
              <a:t>TD Learning</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Off policy </a:t>
            </a:r>
            <a:endParaRPr/>
          </a:p>
          <a:p>
            <a:pPr marL="214313" marR="0" lvl="0" indent="-214313"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local learning, propagating values from neighbors (Bootsraping) </a:t>
            </a:r>
            <a:endParaRPr/>
          </a:p>
          <a:p>
            <a:pPr marL="257175" marR="0" lvl="0" indent="-257175" algn="l" rtl="0">
              <a:lnSpc>
                <a:spcPct val="100000"/>
              </a:lnSpc>
              <a:spcBef>
                <a:spcPts val="0"/>
              </a:spcBef>
              <a:spcAft>
                <a:spcPts val="0"/>
              </a:spcAft>
              <a:buClr>
                <a:srgbClr val="000000"/>
              </a:buClr>
              <a:buSzPts val="1800"/>
              <a:buFont typeface="Arial"/>
              <a:buChar char="✅"/>
            </a:pPr>
            <a:r>
              <a:rPr lang="en-US" sz="1800" b="0" i="0" u="none" strike="noStrike" cap="none">
                <a:solidFill>
                  <a:srgbClr val="000000"/>
                </a:solidFill>
                <a:latin typeface="Arial"/>
                <a:ea typeface="Arial"/>
                <a:cs typeface="Arial"/>
                <a:sym typeface="Arial"/>
              </a:rPr>
              <a:t>  Model free, online learning</a:t>
            </a:r>
            <a:endParaRPr/>
          </a:p>
        </p:txBody>
      </p:sp>
      <p:cxnSp>
        <p:nvCxnSpPr>
          <p:cNvPr id="267" name="Google Shape;267;p4"/>
          <p:cNvCxnSpPr/>
          <p:nvPr/>
        </p:nvCxnSpPr>
        <p:spPr>
          <a:xfrm flipH="1">
            <a:off x="5104411" y="2850925"/>
            <a:ext cx="378511" cy="493826"/>
          </a:xfrm>
          <a:prstGeom prst="straightConnector1">
            <a:avLst/>
          </a:prstGeom>
          <a:noFill/>
          <a:ln w="57150" cap="flat" cmpd="sng">
            <a:solidFill>
              <a:srgbClr val="3B7FF2"/>
            </a:solidFill>
            <a:prstDash val="solid"/>
            <a:round/>
            <a:headEnd type="none" w="sm" len="sm"/>
            <a:tailEnd type="triangle" w="med" len="med"/>
          </a:ln>
        </p:spPr>
      </p:cxnSp>
      <p:cxnSp>
        <p:nvCxnSpPr>
          <p:cNvPr id="268" name="Google Shape;268;p4"/>
          <p:cNvCxnSpPr/>
          <p:nvPr/>
        </p:nvCxnSpPr>
        <p:spPr>
          <a:xfrm>
            <a:off x="3446968" y="2880261"/>
            <a:ext cx="313083" cy="493826"/>
          </a:xfrm>
          <a:prstGeom prst="straightConnector1">
            <a:avLst/>
          </a:prstGeom>
          <a:noFill/>
          <a:ln w="57150" cap="flat" cmpd="sng">
            <a:solidFill>
              <a:srgbClr val="3B7FF2"/>
            </a:solidFill>
            <a:prstDash val="solid"/>
            <a:round/>
            <a:headEnd type="none" w="sm" len="sm"/>
            <a:tailEnd type="triangle" w="med" len="med"/>
          </a:ln>
        </p:spPr>
      </p:cxnSp>
      <p:sp>
        <p:nvSpPr>
          <p:cNvPr id="269" name="Google Shape;26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4</a:t>
            </a:fld>
            <a:endParaRPr/>
          </a:p>
        </p:txBody>
      </p:sp>
      <p:pic>
        <p:nvPicPr>
          <p:cNvPr id="270" name="Google Shape;270;p4" descr="Birla Institute of Technology and Science, Pilani | Logopedia | Fandom"/>
          <p:cNvPicPr preferRelativeResize="0"/>
          <p:nvPr/>
        </p:nvPicPr>
        <p:blipFill rotWithShape="1">
          <a:blip r:embed="rId3">
            <a:alphaModFix/>
          </a:blip>
          <a:srcRect/>
          <a:stretch/>
        </p:blipFill>
        <p:spPr>
          <a:xfrm>
            <a:off x="0" y="1626"/>
            <a:ext cx="528638" cy="5286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t>Temporal difference learning </a:t>
            </a:r>
            <a:endParaRPr/>
          </a:p>
        </p:txBody>
      </p:sp>
      <p:sp>
        <p:nvSpPr>
          <p:cNvPr id="279" name="Google Shape;279;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5</a:t>
            </a:fld>
            <a:endParaRPr/>
          </a:p>
        </p:txBody>
      </p:sp>
      <p:pic>
        <p:nvPicPr>
          <p:cNvPr id="280" name="Google Shape;280;p5" descr="Birla Institute of Technology and Science, Pilani | Logopedia | Fandom"/>
          <p:cNvPicPr preferRelativeResize="0"/>
          <p:nvPr/>
        </p:nvPicPr>
        <p:blipFill rotWithShape="1">
          <a:blip r:embed="rId3">
            <a:alphaModFix/>
          </a:blip>
          <a:srcRect/>
          <a:stretch/>
        </p:blipFill>
        <p:spPr>
          <a:xfrm>
            <a:off x="0" y="-9391"/>
            <a:ext cx="528638" cy="528638"/>
          </a:xfrm>
          <a:prstGeom prst="rect">
            <a:avLst/>
          </a:prstGeom>
          <a:noFill/>
          <a:ln>
            <a:noFill/>
          </a:ln>
        </p:spPr>
      </p:pic>
      <p:sp>
        <p:nvSpPr>
          <p:cNvPr id="5" name="TextBox 4">
            <a:extLst>
              <a:ext uri="{FF2B5EF4-FFF2-40B4-BE49-F238E27FC236}">
                <a16:creationId xmlns:a16="http://schemas.microsoft.com/office/drawing/2014/main" id="{974E6C71-4D6A-AA28-FD8F-36F6D72C9691}"/>
              </a:ext>
            </a:extLst>
          </p:cNvPr>
          <p:cNvSpPr txBox="1"/>
          <p:nvPr/>
        </p:nvSpPr>
        <p:spPr>
          <a:xfrm>
            <a:off x="610215" y="1289213"/>
            <a:ext cx="7974192" cy="3221395"/>
          </a:xfrm>
          <a:prstGeom prst="rect">
            <a:avLst/>
          </a:prstGeom>
          <a:noFill/>
        </p:spPr>
        <p:txBody>
          <a:bodyPr wrap="square">
            <a:spAutoFit/>
          </a:bodyPr>
          <a:lstStyle/>
          <a:p>
            <a:pPr rtl="0" fontAlgn="base">
              <a:buFont typeface="Arial" panose="020B0604020202020204" pitchFamily="34" charset="0"/>
              <a:buChar char="•"/>
            </a:pPr>
            <a:r>
              <a:rPr lang="en-IN" sz="1700" b="0" i="0" u="none" strike="noStrike" dirty="0">
                <a:solidFill>
                  <a:srgbClr val="292929"/>
                </a:solidFill>
                <a:effectLst/>
                <a:latin typeface="Arial" panose="020B0604020202020204" pitchFamily="34" charset="0"/>
              </a:rPr>
              <a:t>In Monte-Carlo, G</a:t>
            </a:r>
            <a:r>
              <a:rPr lang="en-IN" sz="1700" b="0" i="0" u="none" strike="noStrike" baseline="-25000" dirty="0">
                <a:solidFill>
                  <a:srgbClr val="292929"/>
                </a:solidFill>
                <a:effectLst/>
                <a:latin typeface="Arial" panose="020B0604020202020204" pitchFamily="34" charset="0"/>
              </a:rPr>
              <a:t>t</a:t>
            </a:r>
            <a:r>
              <a:rPr lang="en-IN" sz="1700" b="0" i="0" u="none" strike="noStrike" dirty="0">
                <a:solidFill>
                  <a:srgbClr val="292929"/>
                </a:solidFill>
                <a:effectLst/>
                <a:latin typeface="Arial" panose="020B0604020202020204" pitchFamily="34" charset="0"/>
              </a:rPr>
              <a:t> is an actual return from the complete episode. Now, if we replace G</a:t>
            </a:r>
            <a:r>
              <a:rPr lang="en-IN" sz="1700" b="0" i="0" u="none" strike="noStrike" baseline="-25000" dirty="0">
                <a:solidFill>
                  <a:srgbClr val="292929"/>
                </a:solidFill>
                <a:effectLst/>
                <a:latin typeface="Arial" panose="020B0604020202020204" pitchFamily="34" charset="0"/>
              </a:rPr>
              <a:t>t</a:t>
            </a:r>
            <a:r>
              <a:rPr lang="en-IN" sz="1700" b="0" i="0" u="none" strike="noStrike" dirty="0">
                <a:solidFill>
                  <a:srgbClr val="292929"/>
                </a:solidFill>
                <a:effectLst/>
                <a:latin typeface="Arial" panose="020B0604020202020204" pitchFamily="34" charset="0"/>
              </a:rPr>
              <a:t> with an estimated return </a:t>
            </a:r>
            <a:r>
              <a:rPr lang="en-IN" sz="1700" b="0" i="1" u="none" strike="noStrike" dirty="0">
                <a:solidFill>
                  <a:srgbClr val="292929"/>
                </a:solidFill>
                <a:effectLst/>
                <a:latin typeface="Arial" panose="020B0604020202020204" pitchFamily="34" charset="0"/>
              </a:rPr>
              <a:t>R(t+1)+V(S</a:t>
            </a:r>
            <a:r>
              <a:rPr lang="en-IN" sz="1700" b="0" i="1" u="none" strike="noStrike" baseline="-25000" dirty="0">
                <a:solidFill>
                  <a:srgbClr val="292929"/>
                </a:solidFill>
                <a:effectLst/>
                <a:latin typeface="Arial" panose="020B0604020202020204" pitchFamily="34" charset="0"/>
              </a:rPr>
              <a:t>t+1</a:t>
            </a:r>
            <a:r>
              <a:rPr lang="en-IN" sz="1700" b="0" i="1" u="none" strike="noStrike" dirty="0">
                <a:solidFill>
                  <a:srgbClr val="292929"/>
                </a:solidFill>
                <a:effectLst/>
                <a:latin typeface="Arial" panose="020B0604020202020204" pitchFamily="34" charset="0"/>
              </a:rPr>
              <a:t>)</a:t>
            </a:r>
            <a:r>
              <a:rPr lang="en-IN" sz="1700" b="0" i="0" u="none" strike="noStrike" dirty="0">
                <a:solidFill>
                  <a:srgbClr val="292929"/>
                </a:solidFill>
                <a:effectLst/>
                <a:latin typeface="Arial" panose="020B0604020202020204" pitchFamily="34" charset="0"/>
              </a:rPr>
              <a:t>, this is what </a:t>
            </a:r>
            <a:r>
              <a:rPr lang="en-IN" sz="1700" b="0" i="1" u="none" strike="noStrike" dirty="0">
                <a:solidFill>
                  <a:srgbClr val="292929"/>
                </a:solidFill>
                <a:effectLst/>
                <a:latin typeface="Arial" panose="020B0604020202020204" pitchFamily="34" charset="0"/>
              </a:rPr>
              <a:t>TD(0) </a:t>
            </a:r>
            <a:r>
              <a:rPr lang="en-IN" sz="1700" b="0" i="0" u="none" strike="noStrike" dirty="0">
                <a:solidFill>
                  <a:srgbClr val="292929"/>
                </a:solidFill>
                <a:effectLst/>
                <a:latin typeface="Arial" panose="020B0604020202020204" pitchFamily="34" charset="0"/>
              </a:rPr>
              <a:t>would look like:</a:t>
            </a:r>
          </a:p>
          <a:p>
            <a:pPr rtl="0">
              <a:spcBef>
                <a:spcPts val="1000"/>
              </a:spcBef>
            </a:pPr>
            <a:br>
              <a:rPr lang="en-IN" sz="1700" b="0" dirty="0">
                <a:effectLst/>
              </a:rPr>
            </a:br>
            <a:r>
              <a:rPr lang="en-IN" sz="1700" b="0" i="0" u="none" strike="noStrike" dirty="0">
                <a:solidFill>
                  <a:srgbClr val="292929"/>
                </a:solidFill>
                <a:effectLst/>
                <a:latin typeface="Arial" panose="020B0604020202020204" pitchFamily="34" charset="0"/>
              </a:rPr>
              <a:t>Where:</a:t>
            </a:r>
            <a:endParaRPr lang="en-IN" sz="1700" b="0" dirty="0">
              <a:effectLst/>
            </a:endParaRPr>
          </a:p>
          <a:p>
            <a:pPr rtl="0" fontAlgn="base">
              <a:spcBef>
                <a:spcPts val="1000"/>
              </a:spcBef>
              <a:buFont typeface="Arial" panose="020B0604020202020204" pitchFamily="34" charset="0"/>
              <a:buChar char="•"/>
            </a:pPr>
            <a:r>
              <a:rPr lang="en-IN" sz="1700" b="0" i="1" u="none" strike="noStrike" dirty="0">
                <a:solidFill>
                  <a:srgbClr val="292929"/>
                </a:solidFill>
                <a:effectLst/>
                <a:latin typeface="Arial" panose="020B0604020202020204" pitchFamily="34" charset="0"/>
              </a:rPr>
              <a:t>R(t+1)+V(S</a:t>
            </a:r>
            <a:r>
              <a:rPr lang="en-IN" sz="1700" b="0" i="1" u="none" strike="noStrike" baseline="-25000" dirty="0">
                <a:solidFill>
                  <a:srgbClr val="292929"/>
                </a:solidFill>
                <a:effectLst/>
                <a:latin typeface="Arial" panose="020B0604020202020204" pitchFamily="34" charset="0"/>
              </a:rPr>
              <a:t>t+1</a:t>
            </a:r>
            <a:r>
              <a:rPr lang="en-IN" sz="1700" b="0" i="1" u="none" strike="noStrike" dirty="0">
                <a:solidFill>
                  <a:srgbClr val="292929"/>
                </a:solidFill>
                <a:effectLst/>
                <a:latin typeface="Arial" panose="020B0604020202020204" pitchFamily="34" charset="0"/>
              </a:rPr>
              <a:t>)</a:t>
            </a:r>
            <a:r>
              <a:rPr lang="en-IN" sz="1700" b="0" i="0" u="none" strike="noStrike" dirty="0">
                <a:solidFill>
                  <a:srgbClr val="292929"/>
                </a:solidFill>
                <a:effectLst/>
                <a:latin typeface="Arial" panose="020B0604020202020204" pitchFamily="34" charset="0"/>
              </a:rPr>
              <a:t> is called </a:t>
            </a:r>
            <a:r>
              <a:rPr lang="en-IN" sz="1700" b="1" i="0" u="none" strike="noStrike" dirty="0">
                <a:solidFill>
                  <a:srgbClr val="292929"/>
                </a:solidFill>
                <a:effectLst/>
                <a:latin typeface="Arial" panose="020B0604020202020204" pitchFamily="34" charset="0"/>
              </a:rPr>
              <a:t>TD target value</a:t>
            </a:r>
            <a:endParaRPr lang="en-IN" sz="1700" b="0" i="1" u="none" strike="noStrike" dirty="0">
              <a:solidFill>
                <a:srgbClr val="292929"/>
              </a:solidFill>
              <a:effectLst/>
              <a:latin typeface="Arial" panose="020B0604020202020204" pitchFamily="34" charset="0"/>
            </a:endParaRPr>
          </a:p>
          <a:p>
            <a:pPr rtl="0" fontAlgn="base">
              <a:spcBef>
                <a:spcPts val="1000"/>
              </a:spcBef>
              <a:buFont typeface="Arial" panose="020B0604020202020204" pitchFamily="34" charset="0"/>
              <a:buChar char="•"/>
            </a:pPr>
            <a:r>
              <a:rPr lang="en-IN" sz="1700" b="0" i="1" u="none" strike="noStrike" dirty="0">
                <a:solidFill>
                  <a:srgbClr val="292929"/>
                </a:solidFill>
                <a:effectLst/>
                <a:latin typeface="Arial" panose="020B0604020202020204" pitchFamily="34" charset="0"/>
              </a:rPr>
              <a:t>R(t+1)+V(S</a:t>
            </a:r>
            <a:r>
              <a:rPr lang="en-IN" sz="1700" b="0" i="1" u="none" strike="noStrike" baseline="-25000" dirty="0">
                <a:solidFill>
                  <a:srgbClr val="292929"/>
                </a:solidFill>
                <a:effectLst/>
                <a:latin typeface="Arial" panose="020B0604020202020204" pitchFamily="34" charset="0"/>
              </a:rPr>
              <a:t>t+1</a:t>
            </a:r>
            <a:r>
              <a:rPr lang="en-IN" sz="1700" b="0" i="1" u="none" strike="noStrike" dirty="0">
                <a:solidFill>
                  <a:srgbClr val="292929"/>
                </a:solidFill>
                <a:effectLst/>
                <a:latin typeface="Arial" panose="020B0604020202020204" pitchFamily="34" charset="0"/>
              </a:rPr>
              <a:t>)- V(</a:t>
            </a:r>
            <a:r>
              <a:rPr lang="en-IN" sz="1700" b="0" i="1" u="none" strike="noStrike" dirty="0" err="1">
                <a:solidFill>
                  <a:srgbClr val="292929"/>
                </a:solidFill>
                <a:effectLst/>
                <a:latin typeface="Arial" panose="020B0604020202020204" pitchFamily="34" charset="0"/>
              </a:rPr>
              <a:t>S</a:t>
            </a:r>
            <a:r>
              <a:rPr lang="en-IN" sz="1700" b="0" i="1" u="none" strike="noStrike" baseline="-25000" dirty="0" err="1">
                <a:solidFill>
                  <a:srgbClr val="292929"/>
                </a:solidFill>
                <a:effectLst/>
                <a:latin typeface="Arial" panose="020B0604020202020204" pitchFamily="34" charset="0"/>
              </a:rPr>
              <a:t>t</a:t>
            </a:r>
            <a:r>
              <a:rPr lang="en-IN" sz="1700" b="0" i="1" u="none" strike="noStrike" dirty="0" err="1">
                <a:solidFill>
                  <a:srgbClr val="292929"/>
                </a:solidFill>
                <a:effectLst/>
                <a:latin typeface="Arial" panose="020B0604020202020204" pitchFamily="34" charset="0"/>
              </a:rPr>
              <a:t>）</a:t>
            </a:r>
            <a:r>
              <a:rPr lang="en-IN" sz="1700" b="0" i="0" u="none" strike="noStrike" dirty="0" err="1">
                <a:solidFill>
                  <a:srgbClr val="292929"/>
                </a:solidFill>
                <a:effectLst/>
                <a:latin typeface="Arial" panose="020B0604020202020204" pitchFamily="34" charset="0"/>
              </a:rPr>
              <a:t>is</a:t>
            </a:r>
            <a:r>
              <a:rPr lang="en-IN" sz="1700" b="0" i="0" u="none" strike="noStrike" dirty="0">
                <a:solidFill>
                  <a:srgbClr val="292929"/>
                </a:solidFill>
                <a:effectLst/>
                <a:latin typeface="Arial" panose="020B0604020202020204" pitchFamily="34" charset="0"/>
              </a:rPr>
              <a:t> called </a:t>
            </a:r>
            <a:r>
              <a:rPr lang="en-IN" sz="1700" b="1" i="0" u="none" strike="noStrike" dirty="0">
                <a:solidFill>
                  <a:srgbClr val="292929"/>
                </a:solidFill>
                <a:effectLst/>
                <a:latin typeface="Arial" panose="020B0604020202020204" pitchFamily="34" charset="0"/>
              </a:rPr>
              <a:t>TD error</a:t>
            </a:r>
            <a:r>
              <a:rPr lang="en-IN" sz="1700" b="0" i="0" u="none" strike="noStrike" dirty="0">
                <a:solidFill>
                  <a:srgbClr val="292929"/>
                </a:solidFill>
                <a:effectLst/>
                <a:latin typeface="Arial" panose="020B0604020202020204" pitchFamily="34" charset="0"/>
              </a:rPr>
              <a:t>.</a:t>
            </a:r>
            <a:endParaRPr lang="en-IN" sz="1700" b="0" i="1" u="none" strike="noStrike" dirty="0">
              <a:solidFill>
                <a:srgbClr val="292929"/>
              </a:solidFill>
              <a:effectLst/>
              <a:latin typeface="Arial" panose="020B0604020202020204" pitchFamily="34" charset="0"/>
            </a:endParaRPr>
          </a:p>
          <a:p>
            <a:pPr rtl="0" fontAlgn="base">
              <a:spcBef>
                <a:spcPts val="1000"/>
              </a:spcBef>
              <a:buFont typeface="Arial" panose="020B0604020202020204" pitchFamily="34" charset="0"/>
              <a:buChar char="•"/>
            </a:pPr>
            <a:r>
              <a:rPr lang="en-IN" sz="1700" b="0" i="0" u="none" strike="noStrike" dirty="0">
                <a:solidFill>
                  <a:srgbClr val="292929"/>
                </a:solidFill>
                <a:effectLst/>
                <a:latin typeface="Arial" panose="020B0604020202020204" pitchFamily="34" charset="0"/>
              </a:rPr>
              <a:t>MC uses accurate return Gt to update value, while TD uses the Bellman Optimality Equation to estimate value, and then updates the estimated value with the target value.</a:t>
            </a:r>
          </a:p>
        </p:txBody>
      </p:sp>
      <p:pic>
        <p:nvPicPr>
          <p:cNvPr id="1026" name="Picture 2">
            <a:extLst>
              <a:ext uri="{FF2B5EF4-FFF2-40B4-BE49-F238E27FC236}">
                <a16:creationId xmlns:a16="http://schemas.microsoft.com/office/drawing/2014/main" id="{FDCB2C48-5513-45BB-AD73-F705E5D4736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999" t="12555" r="24020" b="21599"/>
          <a:stretch/>
        </p:blipFill>
        <p:spPr bwMode="auto">
          <a:xfrm>
            <a:off x="1828799" y="1923566"/>
            <a:ext cx="4688014" cy="6481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F6531-F067-660B-4925-66F3B58D18D9}"/>
              </a:ext>
            </a:extLst>
          </p:cNvPr>
          <p:cNvSpPr>
            <a:spLocks noGrp="1"/>
          </p:cNvSpPr>
          <p:nvPr>
            <p:ph type="title"/>
          </p:nvPr>
        </p:nvSpPr>
        <p:spPr/>
        <p:txBody>
          <a:bodyPr>
            <a:normAutofit fontScale="90000"/>
          </a:bodyPr>
          <a:lstStyle/>
          <a:p>
            <a:r>
              <a:rPr lang="en-US" dirty="0"/>
              <a:t>Temporal Difference learning</a:t>
            </a:r>
          </a:p>
        </p:txBody>
      </p:sp>
      <p:pic>
        <p:nvPicPr>
          <p:cNvPr id="4" name="Picture 3">
            <a:extLst>
              <a:ext uri="{FF2B5EF4-FFF2-40B4-BE49-F238E27FC236}">
                <a16:creationId xmlns:a16="http://schemas.microsoft.com/office/drawing/2014/main" id="{25978C72-7182-3E38-1EB7-743A95150A74}"/>
              </a:ext>
            </a:extLst>
          </p:cNvPr>
          <p:cNvPicPr>
            <a:picLocks noChangeAspect="1"/>
          </p:cNvPicPr>
          <p:nvPr/>
        </p:nvPicPr>
        <p:blipFill>
          <a:blip r:embed="rId2"/>
          <a:stretch>
            <a:fillRect/>
          </a:stretch>
        </p:blipFill>
        <p:spPr>
          <a:xfrm>
            <a:off x="497712" y="1093331"/>
            <a:ext cx="7772400" cy="3475544"/>
          </a:xfrm>
          <a:prstGeom prst="rect">
            <a:avLst/>
          </a:prstGeom>
        </p:spPr>
      </p:pic>
    </p:spTree>
    <p:extLst>
      <p:ext uri="{BB962C8B-B14F-4D97-AF65-F5344CB8AC3E}">
        <p14:creationId xmlns:p14="http://schemas.microsoft.com/office/powerpoint/2010/main" val="25854885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SzPct val="111111"/>
              <a:buNone/>
            </a:pPr>
            <a:r>
              <a:rPr lang="en-US"/>
              <a:t>SARSA: On-policy TD Control</a:t>
            </a:r>
            <a:endParaRPr/>
          </a:p>
        </p:txBody>
      </p:sp>
      <p:sp>
        <p:nvSpPr>
          <p:cNvPr id="301" name="Google Shape;301;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US" dirty="0"/>
              <a:t>﻿learn an action-value function rather than a state-value function</a:t>
            </a:r>
          </a:p>
          <a:p>
            <a:pPr marL="457200" lvl="0" indent="-342900" algn="l" rtl="0">
              <a:lnSpc>
                <a:spcPct val="115000"/>
              </a:lnSpc>
              <a:spcBef>
                <a:spcPts val="0"/>
              </a:spcBef>
              <a:spcAft>
                <a:spcPts val="0"/>
              </a:spcAft>
              <a:buSzPts val="1800"/>
              <a:buChar char="●"/>
            </a:pPr>
            <a:endParaRPr lang="en-US" dirty="0"/>
          </a:p>
          <a:p>
            <a:pPr marL="457200" lvl="0" indent="-342900" algn="l" rtl="0">
              <a:lnSpc>
                <a:spcPct val="115000"/>
              </a:lnSpc>
              <a:spcBef>
                <a:spcPts val="0"/>
              </a:spcBef>
              <a:spcAft>
                <a:spcPts val="0"/>
              </a:spcAft>
              <a:buSzPts val="1800"/>
              <a:buChar char="●"/>
            </a:pPr>
            <a:endParaRPr lang="en-US" dirty="0"/>
          </a:p>
          <a:p>
            <a:pPr marL="457200" lvl="0" indent="-342900" algn="l" rtl="0">
              <a:lnSpc>
                <a:spcPct val="115000"/>
              </a:lnSpc>
              <a:spcBef>
                <a:spcPts val="0"/>
              </a:spcBef>
              <a:spcAft>
                <a:spcPts val="0"/>
              </a:spcAft>
              <a:buSzPts val="1800"/>
              <a:buChar char="●"/>
            </a:pPr>
            <a:endParaRPr lang="en-US" dirty="0"/>
          </a:p>
          <a:p>
            <a:pPr marL="457200" lvl="0" indent="-342900" algn="l" rtl="0">
              <a:lnSpc>
                <a:spcPct val="115000"/>
              </a:lnSpc>
              <a:spcBef>
                <a:spcPts val="0"/>
              </a:spcBef>
              <a:spcAft>
                <a:spcPts val="0"/>
              </a:spcAft>
              <a:buSzPts val="1800"/>
              <a:buChar char="●"/>
            </a:pPr>
            <a:r>
              <a:rPr lang="en-US" dirty="0"/>
              <a:t>﻿This update is done after every transition from a nonterminal state S</a:t>
            </a:r>
            <a:r>
              <a:rPr lang="en-US" baseline="-25000" dirty="0"/>
              <a:t>t</a:t>
            </a:r>
            <a:r>
              <a:rPr lang="en-US" dirty="0"/>
              <a:t>. If</a:t>
            </a:r>
          </a:p>
          <a:p>
            <a:pPr marL="114300" lvl="0" indent="0" algn="l" rtl="0">
              <a:lnSpc>
                <a:spcPct val="115000"/>
              </a:lnSpc>
              <a:spcBef>
                <a:spcPts val="0"/>
              </a:spcBef>
              <a:spcAft>
                <a:spcPts val="0"/>
              </a:spcAft>
              <a:buSzPts val="1800"/>
              <a:buNone/>
            </a:pPr>
            <a:r>
              <a:rPr lang="en-US" dirty="0"/>
              <a:t>      S</a:t>
            </a:r>
            <a:r>
              <a:rPr lang="en-US" baseline="-25000" dirty="0"/>
              <a:t>t+1</a:t>
            </a:r>
            <a:r>
              <a:rPr lang="en-US" dirty="0"/>
              <a:t> is terminal, then Q(S</a:t>
            </a:r>
            <a:r>
              <a:rPr lang="en-US" baseline="-25000" dirty="0"/>
              <a:t>t+1</a:t>
            </a:r>
            <a:r>
              <a:rPr lang="en-US" dirty="0"/>
              <a:t>, A</a:t>
            </a:r>
            <a:r>
              <a:rPr lang="en-US" baseline="-25000" dirty="0"/>
              <a:t>t+1</a:t>
            </a:r>
            <a:r>
              <a:rPr lang="en-US" dirty="0"/>
              <a:t>) is defined as zero. </a:t>
            </a:r>
          </a:p>
          <a:p>
            <a:pPr marL="114300" lvl="0" indent="0" algn="l" rtl="0">
              <a:lnSpc>
                <a:spcPct val="115000"/>
              </a:lnSpc>
              <a:spcBef>
                <a:spcPts val="0"/>
              </a:spcBef>
              <a:spcAft>
                <a:spcPts val="0"/>
              </a:spcAft>
              <a:buSzPts val="1800"/>
              <a:buNone/>
            </a:pPr>
            <a:endParaRPr lang="en-US" dirty="0"/>
          </a:p>
          <a:p>
            <a:r>
              <a:rPr lang="en-US" dirty="0"/>
              <a:t>﻿Quintuple of events, (S</a:t>
            </a:r>
            <a:r>
              <a:rPr lang="en-US" baseline="-25000" dirty="0"/>
              <a:t>t</a:t>
            </a:r>
            <a:r>
              <a:rPr lang="en-US" dirty="0"/>
              <a:t>, A</a:t>
            </a:r>
            <a:r>
              <a:rPr lang="en-US" baseline="-25000" dirty="0"/>
              <a:t>t</a:t>
            </a:r>
            <a:r>
              <a:rPr lang="en-US" dirty="0"/>
              <a:t>, R</a:t>
            </a:r>
            <a:r>
              <a:rPr lang="en-US" baseline="-25000" dirty="0"/>
              <a:t>t+1</a:t>
            </a:r>
            <a:r>
              <a:rPr lang="en-US" dirty="0"/>
              <a:t>, S</a:t>
            </a:r>
            <a:r>
              <a:rPr lang="en-US" baseline="-25000" dirty="0"/>
              <a:t>t+1</a:t>
            </a:r>
            <a:r>
              <a:rPr lang="en-US" dirty="0"/>
              <a:t>, A</a:t>
            </a:r>
            <a:r>
              <a:rPr lang="en-US" baseline="-25000" dirty="0"/>
              <a:t>t+1</a:t>
            </a:r>
            <a:r>
              <a:rPr lang="en-US" dirty="0"/>
              <a:t>)</a:t>
            </a:r>
          </a:p>
          <a:p>
            <a:pPr marL="457200" lvl="0" indent="-342900" algn="l" rtl="0">
              <a:lnSpc>
                <a:spcPct val="115000"/>
              </a:lnSpc>
              <a:spcBef>
                <a:spcPts val="0"/>
              </a:spcBef>
              <a:spcAft>
                <a:spcPts val="0"/>
              </a:spcAft>
              <a:buSzPts val="1800"/>
              <a:buChar char="●"/>
            </a:pPr>
            <a:endParaRPr dirty="0"/>
          </a:p>
        </p:txBody>
      </p:sp>
      <p:sp>
        <p:nvSpPr>
          <p:cNvPr id="302" name="Google Shape;302;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US"/>
              <a:t>7</a:t>
            </a:fld>
            <a:endParaRPr/>
          </a:p>
        </p:txBody>
      </p:sp>
      <p:pic>
        <p:nvPicPr>
          <p:cNvPr id="303" name="Google Shape;303;p7" descr="Birla Institute of Technology and Science, Pilani | Logopedia | Fandom"/>
          <p:cNvPicPr preferRelativeResize="0"/>
          <p:nvPr/>
        </p:nvPicPr>
        <p:blipFill rotWithShape="1">
          <a:blip r:embed="rId3">
            <a:alphaModFix/>
          </a:blip>
          <a:srcRect/>
          <a:stretch/>
        </p:blipFill>
        <p:spPr>
          <a:xfrm>
            <a:off x="0" y="-9391"/>
            <a:ext cx="528638" cy="528638"/>
          </a:xfrm>
          <a:prstGeom prst="rect">
            <a:avLst/>
          </a:prstGeom>
          <a:noFill/>
          <a:ln>
            <a:noFill/>
          </a:ln>
        </p:spPr>
      </p:pic>
      <p:pic>
        <p:nvPicPr>
          <p:cNvPr id="2" name="Picture 1">
            <a:extLst>
              <a:ext uri="{FF2B5EF4-FFF2-40B4-BE49-F238E27FC236}">
                <a16:creationId xmlns:a16="http://schemas.microsoft.com/office/drawing/2014/main" id="{EAD4FB15-7F9C-2078-FB55-3DE6804D7DE3}"/>
              </a:ext>
            </a:extLst>
          </p:cNvPr>
          <p:cNvPicPr>
            <a:picLocks noChangeAspect="1"/>
          </p:cNvPicPr>
          <p:nvPr/>
        </p:nvPicPr>
        <p:blipFill>
          <a:blip r:embed="rId4"/>
          <a:stretch>
            <a:fillRect/>
          </a:stretch>
        </p:blipFill>
        <p:spPr>
          <a:xfrm>
            <a:off x="528638" y="1855647"/>
            <a:ext cx="7518400" cy="66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sp>
        <p:nvSpPr>
          <p:cNvPr id="13" name="Right Arrow 12">
            <a:extLst>
              <a:ext uri="{FF2B5EF4-FFF2-40B4-BE49-F238E27FC236}">
                <a16:creationId xmlns:a16="http://schemas.microsoft.com/office/drawing/2014/main" id="{870B6560-ABDE-464F-B732-8057518BF431}"/>
              </a:ext>
            </a:extLst>
          </p:cNvPr>
          <p:cNvSpPr/>
          <p:nvPr/>
        </p:nvSpPr>
        <p:spPr>
          <a:xfrm>
            <a:off x="74543" y="1639957"/>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61C895EB-D227-4444-85E4-C62CE5EAEE80}"/>
              </a:ext>
            </a:extLst>
          </p:cNvPr>
          <p:cNvSpPr>
            <a:spLocks noGrp="1"/>
          </p:cNvSpPr>
          <p:nvPr>
            <p:ph type="sldNum" sz="quarter" idx="12"/>
          </p:nvPr>
        </p:nvSpPr>
        <p:spPr/>
        <p:txBody>
          <a:bodyPr/>
          <a:lstStyle/>
          <a:p>
            <a:fld id="{5F07402F-1908-0F43-B844-ECE5D9BD648C}" type="slidenum">
              <a:rPr lang="en-US" smtClean="0"/>
              <a:t>8</a:t>
            </a:fld>
            <a:endParaRPr lang="en-US"/>
          </a:p>
        </p:txBody>
      </p:sp>
      <p:pic>
        <p:nvPicPr>
          <p:cNvPr id="14" name="Google Shape;60;p14" descr="Birla Institute of Technology and Science, Pilani | Logopedia | Fandom"/>
          <p:cNvPicPr preferRelativeResize="0"/>
          <p:nvPr/>
        </p:nvPicPr>
        <p:blipFill rotWithShape="1">
          <a:blip r:embed="rId7">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4168017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sp>
        <p:nvSpPr>
          <p:cNvPr id="13" name="Right Arrow 12">
            <a:extLst>
              <a:ext uri="{FF2B5EF4-FFF2-40B4-BE49-F238E27FC236}">
                <a16:creationId xmlns:a16="http://schemas.microsoft.com/office/drawing/2014/main" id="{870B6560-ABDE-464F-B732-8057518BF431}"/>
              </a:ext>
            </a:extLst>
          </p:cNvPr>
          <p:cNvSpPr/>
          <p:nvPr/>
        </p:nvSpPr>
        <p:spPr>
          <a:xfrm>
            <a:off x="74543" y="2594113"/>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9FD844B6-CB75-244E-9E40-51C6EE982271}"/>
              </a:ext>
            </a:extLst>
          </p:cNvPr>
          <p:cNvSpPr>
            <a:spLocks noGrp="1"/>
          </p:cNvSpPr>
          <p:nvPr>
            <p:ph type="sldNum" sz="quarter" idx="12"/>
          </p:nvPr>
        </p:nvSpPr>
        <p:spPr/>
        <p:txBody>
          <a:bodyPr/>
          <a:lstStyle/>
          <a:p>
            <a:fld id="{5F07402F-1908-0F43-B844-ECE5D9BD648C}" type="slidenum">
              <a:rPr lang="en-US" smtClean="0"/>
              <a:t>9</a:t>
            </a:fld>
            <a:endParaRPr lang="en-US"/>
          </a:p>
        </p:txBody>
      </p:sp>
      <p:pic>
        <p:nvPicPr>
          <p:cNvPr id="15" name="Google Shape;60;p14" descr="Birla Institute of Technology and Science, Pilani | Logopedia | Fandom"/>
          <p:cNvPicPr preferRelativeResize="0"/>
          <p:nvPr/>
        </p:nvPicPr>
        <p:blipFill rotWithShape="1">
          <a:blip r:embed="rId8">
            <a:alphaModFix/>
          </a:blip>
          <a:srcRect/>
          <a:stretch/>
        </p:blipFill>
        <p:spPr>
          <a:xfrm>
            <a:off x="0" y="-9391"/>
            <a:ext cx="528638" cy="528638"/>
          </a:xfrm>
          <a:prstGeom prst="rect">
            <a:avLst/>
          </a:prstGeom>
          <a:noFill/>
          <a:ln>
            <a:noFill/>
          </a:ln>
        </p:spPr>
      </p:pic>
      <mc:AlternateContent xmlns:mc="http://schemas.openxmlformats.org/markup-compatibility/2006" xmlns:p14="http://schemas.microsoft.com/office/powerpoint/2010/main">
        <mc:Choice Requires="p14">
          <p:contentPart p14:bwMode="auto" r:id="rId9">
            <p14:nvContentPartPr>
              <p14:cNvPr id="16" name="Ink 15"/>
              <p14:cNvContentPartPr/>
              <p14:nvPr/>
            </p14:nvContentPartPr>
            <p14:xfrm>
              <a:off x="9021240" y="4601160"/>
              <a:ext cx="13680" cy="27000"/>
            </p14:xfrm>
          </p:contentPart>
        </mc:Choice>
        <mc:Fallback xmlns="">
          <p:pic>
            <p:nvPicPr>
              <p:cNvPr id="16" name="Ink 15"/>
              <p:cNvPicPr/>
              <p:nvPr/>
            </p:nvPicPr>
            <p:blipFill>
              <a:blip r:embed="rId10"/>
              <a:stretch>
                <a:fillRect/>
              </a:stretch>
            </p:blipFill>
            <p:spPr>
              <a:xfrm>
                <a:off x="9011880" y="4591800"/>
                <a:ext cx="32400" cy="45720"/>
              </a:xfrm>
              <a:prstGeom prst="rect">
                <a:avLst/>
              </a:prstGeom>
            </p:spPr>
          </p:pic>
        </mc:Fallback>
      </mc:AlternateContent>
    </p:spTree>
    <p:extLst>
      <p:ext uri="{BB962C8B-B14F-4D97-AF65-F5344CB8AC3E}">
        <p14:creationId xmlns:p14="http://schemas.microsoft.com/office/powerpoint/2010/main" val="3986184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sp>
        <p:nvSpPr>
          <p:cNvPr id="13" name="Right Arrow 12">
            <a:extLst>
              <a:ext uri="{FF2B5EF4-FFF2-40B4-BE49-F238E27FC236}">
                <a16:creationId xmlns:a16="http://schemas.microsoft.com/office/drawing/2014/main" id="{870B6560-ABDE-464F-B732-8057518BF431}"/>
              </a:ext>
            </a:extLst>
          </p:cNvPr>
          <p:cNvSpPr/>
          <p:nvPr/>
        </p:nvSpPr>
        <p:spPr>
          <a:xfrm>
            <a:off x="74543" y="2795379"/>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𝒏𝒖𝒍𝒍</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4" name="Slide Number Placeholder 3">
            <a:extLst>
              <a:ext uri="{FF2B5EF4-FFF2-40B4-BE49-F238E27FC236}">
                <a16:creationId xmlns:a16="http://schemas.microsoft.com/office/drawing/2014/main" id="{23410FBA-B392-5B48-8705-606BD233614A}"/>
              </a:ext>
            </a:extLst>
          </p:cNvPr>
          <p:cNvSpPr>
            <a:spLocks noGrp="1"/>
          </p:cNvSpPr>
          <p:nvPr>
            <p:ph type="sldNum" sz="quarter" idx="12"/>
          </p:nvPr>
        </p:nvSpPr>
        <p:spPr/>
        <p:txBody>
          <a:bodyPr/>
          <a:lstStyle/>
          <a:p>
            <a:fld id="{5F07402F-1908-0F43-B844-ECE5D9BD648C}" type="slidenum">
              <a:rPr lang="en-US" smtClean="0"/>
              <a:t>10</a:t>
            </a:fld>
            <a:endParaRPr lang="en-US"/>
          </a:p>
        </p:txBody>
      </p:sp>
      <p:pic>
        <p:nvPicPr>
          <p:cNvPr id="16"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212411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974282"/>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EABA096F-306C-EC41-B979-C4921CF0C6FD}"/>
              </a:ext>
            </a:extLst>
          </p:cNvPr>
          <p:cNvSpPr>
            <a:spLocks noGrp="1"/>
          </p:cNvSpPr>
          <p:nvPr>
            <p:ph type="sldNum" sz="quarter" idx="12"/>
          </p:nvPr>
        </p:nvSpPr>
        <p:spPr/>
        <p:txBody>
          <a:bodyPr/>
          <a:lstStyle/>
          <a:p>
            <a:fld id="{5F07402F-1908-0F43-B844-ECE5D9BD648C}" type="slidenum">
              <a:rPr lang="en-US" smtClean="0"/>
              <a:t>11</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mc:AlternateContent xmlns:mc="http://schemas.openxmlformats.org/markup-compatibility/2006" xmlns:p14="http://schemas.microsoft.com/office/powerpoint/2010/main">
        <mc:Choice Requires="p14">
          <p:contentPart p14:bwMode="auto" r:id="rId10">
            <p14:nvContentPartPr>
              <p14:cNvPr id="13" name="Ink 12"/>
              <p14:cNvContentPartPr/>
              <p14:nvPr/>
            </p14:nvContentPartPr>
            <p14:xfrm>
              <a:off x="669600" y="3187800"/>
              <a:ext cx="214920" cy="40680"/>
            </p14:xfrm>
          </p:contentPart>
        </mc:Choice>
        <mc:Fallback xmlns="">
          <p:pic>
            <p:nvPicPr>
              <p:cNvPr id="13" name="Ink 12"/>
              <p:cNvPicPr/>
              <p:nvPr/>
            </p:nvPicPr>
            <p:blipFill>
              <a:blip r:embed="rId11"/>
              <a:stretch>
                <a:fillRect/>
              </a:stretch>
            </p:blipFill>
            <p:spPr>
              <a:xfrm>
                <a:off x="660240" y="3178440"/>
                <a:ext cx="233640" cy="59400"/>
              </a:xfrm>
              <a:prstGeom prst="rect">
                <a:avLst/>
              </a:prstGeom>
            </p:spPr>
          </p:pic>
        </mc:Fallback>
      </mc:AlternateContent>
    </p:spTree>
    <p:extLst>
      <p:ext uri="{BB962C8B-B14F-4D97-AF65-F5344CB8AC3E}">
        <p14:creationId xmlns:p14="http://schemas.microsoft.com/office/powerpoint/2010/main" val="1747983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rgbClr val="FF0000"/>
                          </a:solidFill>
                        </a:rPr>
                        <a:t>0</a:t>
                      </a: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3160640"/>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5D4F351A-1549-914C-96D0-A9153DEC85EE}"/>
              </a:ext>
            </a:extLst>
          </p:cNvPr>
          <p:cNvSpPr>
            <a:spLocks noGrp="1"/>
          </p:cNvSpPr>
          <p:nvPr>
            <p:ph type="sldNum" sz="quarter" idx="12"/>
          </p:nvPr>
        </p:nvSpPr>
        <p:spPr/>
        <p:txBody>
          <a:bodyPr/>
          <a:lstStyle/>
          <a:p>
            <a:fld id="{5F07402F-1908-0F43-B844-ECE5D9BD648C}" type="slidenum">
              <a:rPr lang="en-US" smtClean="0"/>
              <a:t>12</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59165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586658"/>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38314984-F7D8-E04F-8356-066887564456}"/>
              </a:ext>
            </a:extLst>
          </p:cNvPr>
          <p:cNvSpPr>
            <a:spLocks noGrp="1"/>
          </p:cNvSpPr>
          <p:nvPr>
            <p:ph type="sldNum" sz="quarter" idx="12"/>
          </p:nvPr>
        </p:nvSpPr>
        <p:spPr/>
        <p:txBody>
          <a:bodyPr/>
          <a:lstStyle/>
          <a:p>
            <a:fld id="{5F07402F-1908-0F43-B844-ECE5D9BD648C}" type="slidenum">
              <a:rPr lang="en-US" smtClean="0"/>
              <a:t>13</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349220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𝒕𝒆𝒓</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951922"/>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9551058E-82B5-244A-970A-CE51A837E597}"/>
              </a:ext>
            </a:extLst>
          </p:cNvPr>
          <p:cNvSpPr>
            <a:spLocks noGrp="1"/>
          </p:cNvSpPr>
          <p:nvPr>
            <p:ph type="sldNum" sz="quarter" idx="12"/>
          </p:nvPr>
        </p:nvSpPr>
        <p:spPr/>
        <p:txBody>
          <a:bodyPr/>
          <a:lstStyle/>
          <a:p>
            <a:fld id="{5F07402F-1908-0F43-B844-ECE5D9BD648C}" type="slidenum">
              <a:rPr lang="en-US" smtClean="0"/>
              <a:t>14</a:t>
            </a:fld>
            <a:endParaRPr lang="en-US"/>
          </a:p>
        </p:txBody>
      </p:sp>
      <p:pic>
        <p:nvPicPr>
          <p:cNvPr id="19"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4093552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𝒕𝒆𝒓</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228849"/>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F9B3E7D5-15BA-C641-B172-7A1BCCA5A6FE}"/>
              </a:ext>
            </a:extLst>
          </p:cNvPr>
          <p:cNvSpPr>
            <a:spLocks noGrp="1"/>
          </p:cNvSpPr>
          <p:nvPr>
            <p:ph type="sldNum" sz="quarter" idx="12"/>
          </p:nvPr>
        </p:nvSpPr>
        <p:spPr/>
        <p:txBody>
          <a:bodyPr/>
          <a:lstStyle/>
          <a:p>
            <a:fld id="{5F07402F-1908-0F43-B844-ECE5D9BD648C}" type="slidenum">
              <a:rPr lang="en-US" smtClean="0"/>
              <a:t>15</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9057347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𝒕𝒆𝒓</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601568"/>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9DA17BC0-4F2D-084D-BEAD-C03A0C5EBEF6}"/>
              </a:ext>
            </a:extLst>
          </p:cNvPr>
          <p:cNvSpPr>
            <a:spLocks noGrp="1"/>
          </p:cNvSpPr>
          <p:nvPr>
            <p:ph type="sldNum" sz="quarter" idx="12"/>
          </p:nvPr>
        </p:nvSpPr>
        <p:spPr/>
        <p:txBody>
          <a:bodyPr/>
          <a:lstStyle/>
          <a:p>
            <a:fld id="{5F07402F-1908-0F43-B844-ECE5D9BD648C}" type="slidenum">
              <a:rPr lang="en-US" smtClean="0"/>
              <a:t>16</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1633183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989190"/>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2728F0AC-7AF0-A74E-83B2-5119E5E84ADC}"/>
              </a:ext>
            </a:extLst>
          </p:cNvPr>
          <p:cNvSpPr>
            <a:spLocks noGrp="1"/>
          </p:cNvSpPr>
          <p:nvPr>
            <p:ph type="sldNum" sz="quarter" idx="12"/>
          </p:nvPr>
        </p:nvSpPr>
        <p:spPr/>
        <p:txBody>
          <a:bodyPr/>
          <a:lstStyle/>
          <a:p>
            <a:fld id="{5F07402F-1908-0F43-B844-ECE5D9BD648C}" type="slidenum">
              <a:rPr lang="en-US" smtClean="0"/>
              <a:t>17</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1642445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830602"/>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434340">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-90,0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3153184"/>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Slide Number Placeholder 3">
            <a:extLst>
              <a:ext uri="{FF2B5EF4-FFF2-40B4-BE49-F238E27FC236}">
                <a16:creationId xmlns:a16="http://schemas.microsoft.com/office/drawing/2014/main" id="{D26CB63A-3510-814F-98FF-AE146A16BC3E}"/>
              </a:ext>
            </a:extLst>
          </p:cNvPr>
          <p:cNvSpPr>
            <a:spLocks noGrp="1"/>
          </p:cNvSpPr>
          <p:nvPr>
            <p:ph type="sldNum" sz="quarter" idx="12"/>
          </p:nvPr>
        </p:nvSpPr>
        <p:spPr/>
        <p:txBody>
          <a:bodyPr/>
          <a:lstStyle/>
          <a:p>
            <a:fld id="{5F07402F-1908-0F43-B844-ECE5D9BD648C}" type="slidenum">
              <a:rPr lang="en-US" smtClean="0"/>
              <a:t>18</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5776222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B2AA-C6F8-9842-A201-1451371D4C01}"/>
              </a:ext>
            </a:extLst>
          </p:cNvPr>
          <p:cNvSpPr>
            <a:spLocks noGrp="1"/>
          </p:cNvSpPr>
          <p:nvPr>
            <p:ph type="title"/>
          </p:nvPr>
        </p:nvSpPr>
        <p:spPr/>
        <p:txBody>
          <a:bodyPr>
            <a:normAutofit fontScale="90000"/>
          </a:bodyPr>
          <a:lstStyle/>
          <a:p>
            <a:r>
              <a:rPr lang="en-US" dirty="0"/>
              <a:t>SARSA: On-policy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B001FCD6-993E-9046-83DE-DF5763C31605}"/>
              </a:ext>
            </a:extLst>
          </p:cNvPr>
          <p:cNvPicPr>
            <a:picLocks noGrp="1" noChangeAspect="1"/>
          </p:cNvPicPr>
          <p:nvPr>
            <p:ph idx="1"/>
          </p:nvPr>
        </p:nvPicPr>
        <p:blipFill>
          <a:blip r:embed="rId2"/>
          <a:stretch>
            <a:fillRect/>
          </a:stretch>
        </p:blipFill>
        <p:spPr>
          <a:xfrm>
            <a:off x="134179" y="1213142"/>
            <a:ext cx="7886700" cy="2520186"/>
          </a:xfrm>
        </p:spPr>
      </p:pic>
      <p:pic>
        <p:nvPicPr>
          <p:cNvPr id="6" name="Picture 5" descr="Image result for treasure clipart">
            <a:extLst>
              <a:ext uri="{FF2B5EF4-FFF2-40B4-BE49-F238E27FC236}">
                <a16:creationId xmlns:a16="http://schemas.microsoft.com/office/drawing/2014/main" id="{DCF3EB31-9841-A24C-90B0-0BC73FC247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2558" y="4305846"/>
            <a:ext cx="665633" cy="45263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6">
            <a:extLst>
              <a:ext uri="{FF2B5EF4-FFF2-40B4-BE49-F238E27FC236}">
                <a16:creationId xmlns:a16="http://schemas.microsoft.com/office/drawing/2014/main" id="{A9056FDC-6354-514E-AD94-40C16F0570FA}"/>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pic>
        <p:nvPicPr>
          <p:cNvPr id="8" name="Picture 7" descr="Image result for robot clipart">
            <a:extLst>
              <a:ext uri="{FF2B5EF4-FFF2-40B4-BE49-F238E27FC236}">
                <a16:creationId xmlns:a16="http://schemas.microsoft.com/office/drawing/2014/main" id="{EB58FB9A-C6E0-F64A-8C01-67F28253944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irate by Firkin">
            <a:extLst>
              <a:ext uri="{FF2B5EF4-FFF2-40B4-BE49-F238E27FC236}">
                <a16:creationId xmlns:a16="http://schemas.microsoft.com/office/drawing/2014/main" id="{D14CFFD9-9EC9-B649-BE03-0E256DFC01A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574" y="4145955"/>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DC3C7E2E-968E-064F-8F1A-8E88D78142C2}"/>
              </a:ext>
            </a:extLst>
          </p:cNvPr>
          <p:cNvSpPr txBox="1"/>
          <p:nvPr/>
        </p:nvSpPr>
        <p:spPr>
          <a:xfrm>
            <a:off x="2603219"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1" name="TextBox 10">
            <a:extLst>
              <a:ext uri="{FF2B5EF4-FFF2-40B4-BE49-F238E27FC236}">
                <a16:creationId xmlns:a16="http://schemas.microsoft.com/office/drawing/2014/main" id="{D254557F-6661-4E42-A375-82C13DACD6FA}"/>
              </a:ext>
            </a:extLst>
          </p:cNvPr>
          <p:cNvSpPr txBox="1"/>
          <p:nvPr/>
        </p:nvSpPr>
        <p:spPr>
          <a:xfrm>
            <a:off x="544072" y="382414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7C6E64AF-0384-E448-BBA4-C68985F2A0C2}"/>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2" name="Rectangle 11">
                <a:extLst>
                  <a:ext uri="{FF2B5EF4-FFF2-40B4-BE49-F238E27FC236}">
                    <a16:creationId xmlns:a16="http://schemas.microsoft.com/office/drawing/2014/main" id="{7C6E64AF-0384-E448-BBA4-C68985F2A0C2}"/>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4" name="Table 13">
            <a:extLst>
              <a:ext uri="{FF2B5EF4-FFF2-40B4-BE49-F238E27FC236}">
                <a16:creationId xmlns:a16="http://schemas.microsoft.com/office/drawing/2014/main" id="{7057763F-D33C-6A40-AD11-C8696E0459EA}"/>
              </a:ext>
            </a:extLst>
          </p:cNvPr>
          <p:cNvGraphicFramePr>
            <a:graphicFrameLocks noGrp="1"/>
          </p:cNvGraphicFramePr>
          <p:nvPr/>
        </p:nvGraphicFramePr>
        <p:xfrm>
          <a:off x="6986279" y="4124222"/>
          <a:ext cx="1886880" cy="830602"/>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434340">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200" dirty="0">
                          <a:solidFill>
                            <a:schemeClr val="tx1"/>
                          </a:solidFill>
                        </a:rPr>
                        <a:t>-90,0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118EF6BE-A8D0-6249-A3F4-1D00265E2EFF}"/>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3" name="Rectangle 2">
                <a:extLst>
                  <a:ext uri="{FF2B5EF4-FFF2-40B4-BE49-F238E27FC236}">
                    <a16:creationId xmlns:a16="http://schemas.microsoft.com/office/drawing/2014/main" id="{118EF6BE-A8D0-6249-A3F4-1D00265E2EFF}"/>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𝒘</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5" name="Table 14">
                <a:extLst>
                  <a:ext uri="{FF2B5EF4-FFF2-40B4-BE49-F238E27FC236}">
                    <a16:creationId xmlns:a16="http://schemas.microsoft.com/office/drawing/2014/main" id="{A56C2838-93C4-7440-8DD8-DB3CACFAF05D}"/>
                  </a:ext>
                </a:extLst>
              </p:cNvPr>
              <p:cNvGraphicFramePr>
                <a:graphicFrameLocks noGrp="1"/>
              </p:cNvGraphicFramePr>
              <p:nvPr>
                <p:extLst/>
              </p:nvPr>
            </p:nvGraphicFramePr>
            <p:xfrm>
              <a:off x="3649032" y="4124222"/>
              <a:ext cx="2200525"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gridCol w="440105">
                      <a:extLst>
                        <a:ext uri="{9D8B030D-6E8A-4147-A177-3AD203B41FA5}">
                          <a16:colId xmlns:a16="http://schemas.microsoft.com/office/drawing/2014/main" val="2489636878"/>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89" t="-1515" r="-405556"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000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9863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9BAAEDE1-1759-A14F-B8FD-52474F3F500F}"/>
              </a:ext>
            </a:extLst>
          </p:cNvPr>
          <p:cNvSpPr/>
          <p:nvPr/>
        </p:nvSpPr>
        <p:spPr>
          <a:xfrm>
            <a:off x="74543" y="2579198"/>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4" name="TextBox 3">
            <a:extLst>
              <a:ext uri="{FF2B5EF4-FFF2-40B4-BE49-F238E27FC236}">
                <a16:creationId xmlns:a16="http://schemas.microsoft.com/office/drawing/2014/main" id="{D82564B2-8931-CF45-B5CB-CF1972A83850}"/>
              </a:ext>
            </a:extLst>
          </p:cNvPr>
          <p:cNvSpPr txBox="1"/>
          <p:nvPr/>
        </p:nvSpPr>
        <p:spPr>
          <a:xfrm>
            <a:off x="6065211" y="2359907"/>
            <a:ext cx="1879041" cy="461665"/>
          </a:xfrm>
          <a:prstGeom prst="rect">
            <a:avLst/>
          </a:prstGeom>
          <a:noFill/>
        </p:spPr>
        <p:txBody>
          <a:bodyPr wrap="none" rtlCol="0">
            <a:spAutoFit/>
          </a:bodyPr>
          <a:lstStyle/>
          <a:p>
            <a:r>
              <a:rPr lang="en-US" sz="2400" dirty="0">
                <a:solidFill>
                  <a:srgbClr val="FF0000"/>
                </a:solidFill>
              </a:rPr>
              <a:t>And so on…</a:t>
            </a:r>
          </a:p>
        </p:txBody>
      </p:sp>
      <p:sp>
        <p:nvSpPr>
          <p:cNvPr id="13" name="Slide Number Placeholder 12">
            <a:extLst>
              <a:ext uri="{FF2B5EF4-FFF2-40B4-BE49-F238E27FC236}">
                <a16:creationId xmlns:a16="http://schemas.microsoft.com/office/drawing/2014/main" id="{DD3C6813-3BC7-F14B-B5A3-A3F4A0582053}"/>
              </a:ext>
            </a:extLst>
          </p:cNvPr>
          <p:cNvSpPr>
            <a:spLocks noGrp="1"/>
          </p:cNvSpPr>
          <p:nvPr>
            <p:ph type="sldNum" sz="quarter" idx="12"/>
          </p:nvPr>
        </p:nvSpPr>
        <p:spPr/>
        <p:txBody>
          <a:bodyPr/>
          <a:lstStyle/>
          <a:p>
            <a:fld id="{5F07402F-1908-0F43-B844-ECE5D9BD648C}" type="slidenum">
              <a:rPr lang="en-US" smtClean="0"/>
              <a:t>19</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1781900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2DAF9C2-91FB-8F46-ABC8-406B752956C8}"/>
                  </a:ext>
                </a:extLst>
              </p:cNvPr>
              <p:cNvSpPr>
                <a:spLocks noGrp="1"/>
              </p:cNvSpPr>
              <p:nvPr>
                <p:ph idx="1"/>
              </p:nvPr>
            </p:nvSpPr>
            <p:spPr/>
            <p:txBody>
              <a:bodyPr/>
              <a:lstStyle/>
              <a:p>
                <a:r>
                  <a:rPr lang="en-US" dirty="0">
                    <a:latin typeface="Cambria Math" panose="02040503050406030204" pitchFamily="18" charset="0"/>
                  </a:rPr>
                  <a:t>Use the original TD update rule </a:t>
                </a:r>
              </a:p>
              <a:p>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𝛼</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𝑡</m:t>
                            </m:r>
                            <m:r>
                              <a:rPr lang="en-US" i="1">
                                <a:latin typeface="Cambria Math" panose="02040503050406030204" pitchFamily="18" charset="0"/>
                              </a:rPr>
                              <m:t>+1</m:t>
                            </m:r>
                          </m:sub>
                        </m:sSub>
                        <m:r>
                          <a:rPr lang="en-US" i="1">
                            <a:latin typeface="Cambria Math" panose="02040503050406030204" pitchFamily="18" charset="0"/>
                          </a:rPr>
                          <m:t>+</m:t>
                        </m:r>
                        <m:r>
                          <a:rPr lang="en-US" i="1">
                            <a:latin typeface="Cambria Math" panose="02040503050406030204" pitchFamily="18" charset="0"/>
                          </a:rPr>
                          <m:t>𝛾</m:t>
                        </m:r>
                        <m:func>
                          <m:funcPr>
                            <m:ctrlPr>
                              <a:rPr lang="en-US" i="1">
                                <a:solidFill>
                                  <a:srgbClr val="FF0000"/>
                                </a:solidFill>
                                <a:latin typeface="Cambria Math" panose="02040503050406030204" pitchFamily="18" charset="0"/>
                              </a:rPr>
                            </m:ctrlPr>
                          </m:funcPr>
                          <m:fName>
                            <m:limLow>
                              <m:limLowPr>
                                <m:ctrlPr>
                                  <a:rPr lang="en-US" i="1">
                                    <a:solidFill>
                                      <a:srgbClr val="FF0000"/>
                                    </a:solidFill>
                                    <a:latin typeface="Cambria Math" panose="02040503050406030204" pitchFamily="18" charset="0"/>
                                  </a:rPr>
                                </m:ctrlPr>
                              </m:limLowPr>
                              <m:e>
                                <m:r>
                                  <m:rPr>
                                    <m:sty m:val="p"/>
                                  </m:rPr>
                                  <a:rPr lang="en-US">
                                    <a:solidFill>
                                      <a:srgbClr val="FF0000"/>
                                    </a:solidFill>
                                    <a:latin typeface="Cambria Math" panose="02040503050406030204" pitchFamily="18" charset="0"/>
                                  </a:rPr>
                                  <m:t>max</m:t>
                                </m:r>
                              </m:e>
                              <m:lim>
                                <m:r>
                                  <a:rPr lang="en-US" i="1">
                                    <a:solidFill>
                                      <a:srgbClr val="FF0000"/>
                                    </a:solidFill>
                                    <a:latin typeface="Cambria Math" panose="02040503050406030204" pitchFamily="18" charset="0"/>
                                  </a:rPr>
                                  <m:t>𝑎</m:t>
                                </m:r>
                                <m:r>
                                  <a:rPr lang="en-US" b="0" i="1" smtClean="0">
                                    <a:solidFill>
                                      <a:srgbClr val="FF0000"/>
                                    </a:solidFill>
                                    <a:latin typeface="Cambria Math" panose="02040503050406030204" pitchFamily="18" charset="0"/>
                                  </a:rPr>
                                  <m:t>′</m:t>
                                </m:r>
                              </m:lim>
                            </m:limLow>
                          </m:fName>
                          <m:e>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panose="02040503050406030204" pitchFamily="18" charset="0"/>
                                  </a:rPr>
                                  <m:t>𝑄</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𝑠</m:t>
                                </m:r>
                                <m:r>
                                  <a:rPr lang="en-US" i="1">
                                    <a:solidFill>
                                      <a:srgbClr val="FF0000"/>
                                    </a:solidFill>
                                    <a:latin typeface="Cambria Math" panose="02040503050406030204" pitchFamily="18" charset="0"/>
                                  </a:rPr>
                                  <m:t>′,</m:t>
                                </m:r>
                                <m:r>
                                  <a:rPr lang="en-US" i="1">
                                    <a:solidFill>
                                      <a:srgbClr val="FF0000"/>
                                    </a:solidFill>
                                    <a:latin typeface="Cambria Math" panose="02040503050406030204" pitchFamily="18" charset="0"/>
                                  </a:rPr>
                                  <m:t>𝑎</m:t>
                                </m:r>
                                <m:r>
                                  <a:rPr lang="en-US" b="0" i="1" smtClean="0">
                                    <a:solidFill>
                                      <a:srgbClr val="FF0000"/>
                                    </a:solidFill>
                                    <a:latin typeface="Cambria Math" panose="02040503050406030204" pitchFamily="18" charset="0"/>
                                  </a:rPr>
                                  <m:t>′</m:t>
                                </m:r>
                                <m:r>
                                  <a:rPr lang="en-US" i="1">
                                    <a:solidFill>
                                      <a:srgbClr val="FF0000"/>
                                    </a:solidFill>
                                    <a:latin typeface="Cambria Math" panose="02040503050406030204" pitchFamily="18" charset="0"/>
                                  </a:rPr>
                                  <m:t>)</m:t>
                                </m:r>
                              </m:e>
                            </m:d>
                          </m:e>
                        </m:func>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d>
                  </m:oMath>
                </a14:m>
                <a:endParaRPr lang="en-US" dirty="0"/>
              </a:p>
              <a:p>
                <a:r>
                  <a:rPr lang="en-US" dirty="0"/>
                  <a:t>Approximates the state-action value for the optimal policy, i.e.,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𝑞</m:t>
                        </m:r>
                      </m:e>
                      <m:sup>
                        <m:r>
                          <a:rPr lang="en-US" b="0" i="1" smtClean="0">
                            <a:latin typeface="Cambria Math" panose="02040503050406030204" pitchFamily="18" charset="0"/>
                          </a:rPr>
                          <m:t>∗</m:t>
                        </m:r>
                      </m:sup>
                    </m:sSup>
                  </m:oMath>
                </a14:m>
                <a:endParaRPr lang="en-US" dirty="0"/>
              </a:p>
              <a:p>
                <a:pPr lvl="1"/>
                <a:r>
                  <a:rPr lang="en-US" dirty="0"/>
                  <a:t>Assuming that every state-action pair is visited infinitely often </a:t>
                </a:r>
              </a:p>
              <a:p>
                <a:r>
                  <a:rPr lang="en-US" dirty="0"/>
                  <a:t>Follows from  the proof of convergence for the Bellman function</a:t>
                </a:r>
              </a:p>
              <a:p>
                <a:pPr lvl="1"/>
                <a:r>
                  <a:rPr lang="en-US" dirty="0"/>
                  <a:t>See slides </a:t>
                </a:r>
                <a:r>
                  <a:rPr lang="en-US" dirty="0" err="1"/>
                  <a:t>MDPs+DP</a:t>
                </a:r>
                <a:endParaRPr lang="en-US" dirty="0"/>
              </a:p>
              <a:p>
                <a:endParaRPr lang="en-US" dirty="0"/>
              </a:p>
            </p:txBody>
          </p:sp>
        </mc:Choice>
        <mc:Fallback xmlns="">
          <p:sp>
            <p:nvSpPr>
              <p:cNvPr id="3" name="Content Placeholder 2">
                <a:extLst>
                  <a:ext uri="{FF2B5EF4-FFF2-40B4-BE49-F238E27FC236}">
                    <a16:creationId xmlns:a16="http://schemas.microsoft.com/office/drawing/2014/main" id="{C2DAF9C2-91FB-8F46-ABC8-406B752956C8}"/>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A5268C6F-A8EC-224F-9321-9CE67B73644B}"/>
              </a:ext>
            </a:extLst>
          </p:cNvPr>
          <p:cNvSpPr>
            <a:spLocks noGrp="1"/>
          </p:cNvSpPr>
          <p:nvPr>
            <p:ph type="sldNum" sz="quarter" idx="12"/>
          </p:nvPr>
        </p:nvSpPr>
        <p:spPr/>
        <p:txBody>
          <a:bodyPr/>
          <a:lstStyle/>
          <a:p>
            <a:fld id="{5F07402F-1908-0F43-B844-ECE5D9BD648C}" type="slidenum">
              <a:rPr lang="en-US" smtClean="0"/>
              <a:t>20</a:t>
            </a:fld>
            <a:endParaRPr lang="en-US"/>
          </a:p>
        </p:txBody>
      </p:sp>
      <p:pic>
        <p:nvPicPr>
          <p:cNvPr id="5" name="Google Shape;60;p14" descr="Birla Institute of Technology and Science, Pilani | Logopedia | Fandom"/>
          <p:cNvPicPr preferRelativeResize="0"/>
          <p:nvPr/>
        </p:nvPicPr>
        <p:blipFill rotWithShape="1">
          <a:blip r:embed="rId3">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829914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𝒏𝒖𝒍𝒍</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𝒏𝒖𝒍𝒍</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𝒏𝒖𝒍𝒍</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1975403"/>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EFAAF244-B28D-A747-938D-DB8D79D6C705}"/>
              </a:ext>
            </a:extLst>
          </p:cNvPr>
          <p:cNvSpPr>
            <a:spLocks noGrp="1"/>
          </p:cNvSpPr>
          <p:nvPr>
            <p:ph type="sldNum" sz="quarter" idx="12"/>
          </p:nvPr>
        </p:nvSpPr>
        <p:spPr/>
        <p:txBody>
          <a:bodyPr/>
          <a:lstStyle/>
          <a:p>
            <a:fld id="{5F07402F-1908-0F43-B844-ECE5D9BD648C}" type="slidenum">
              <a:rPr lang="en-US" smtClean="0"/>
              <a:t>21</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5737798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64296"/>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4530D11F-7D12-D949-9B59-412C26D96C46}"/>
              </a:ext>
            </a:extLst>
          </p:cNvPr>
          <p:cNvSpPr>
            <a:spLocks noGrp="1"/>
          </p:cNvSpPr>
          <p:nvPr>
            <p:ph type="sldNum" sz="quarter" idx="12"/>
          </p:nvPr>
        </p:nvSpPr>
        <p:spPr/>
        <p:txBody>
          <a:bodyPr/>
          <a:lstStyle/>
          <a:p>
            <a:fld id="{5F07402F-1908-0F43-B844-ECE5D9BD648C}" type="slidenum">
              <a:rPr lang="en-US" smtClean="0"/>
              <a:t>22</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mc:AlternateContent xmlns:mc="http://schemas.openxmlformats.org/markup-compatibility/2006" xmlns:p14="http://schemas.microsoft.com/office/powerpoint/2010/main">
        <mc:Choice Requires="p14">
          <p:contentPart p14:bwMode="auto" r:id="rId10">
            <p14:nvContentPartPr>
              <p14:cNvPr id="4" name="Ink 3"/>
              <p14:cNvContentPartPr/>
              <p14:nvPr/>
            </p14:nvContentPartPr>
            <p14:xfrm>
              <a:off x="4246200" y="4332960"/>
              <a:ext cx="6840" cy="360"/>
            </p14:xfrm>
          </p:contentPart>
        </mc:Choice>
        <mc:Fallback xmlns="">
          <p:pic>
            <p:nvPicPr>
              <p:cNvPr id="4" name="Ink 3"/>
              <p:cNvPicPr/>
              <p:nvPr/>
            </p:nvPicPr>
            <p:blipFill>
              <a:blip r:embed="rId11"/>
              <a:stretch>
                <a:fillRect/>
              </a:stretch>
            </p:blipFill>
            <p:spPr>
              <a:xfrm>
                <a:off x="4236840" y="4323600"/>
                <a:ext cx="25560" cy="19080"/>
              </a:xfrm>
              <a:prstGeom prst="rect">
                <a:avLst/>
              </a:prstGeom>
            </p:spPr>
          </p:pic>
        </mc:Fallback>
      </mc:AlternateContent>
    </p:spTree>
    <p:extLst>
      <p:ext uri="{BB962C8B-B14F-4D97-AF65-F5344CB8AC3E}">
        <p14:creationId xmlns:p14="http://schemas.microsoft.com/office/powerpoint/2010/main" val="27700630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07506"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773015"/>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80BB87D0-7445-4B47-BAE7-591723D72C2A}"/>
              </a:ext>
            </a:extLst>
          </p:cNvPr>
          <p:cNvSpPr>
            <a:spLocks noGrp="1"/>
          </p:cNvSpPr>
          <p:nvPr>
            <p:ph type="sldNum" sz="quarter" idx="12"/>
          </p:nvPr>
        </p:nvSpPr>
        <p:spPr/>
        <p:txBody>
          <a:bodyPr/>
          <a:lstStyle/>
          <a:p>
            <a:fld id="{5F07402F-1908-0F43-B844-ECE5D9BD648C}" type="slidenum">
              <a:rPr lang="en-US" smtClean="0"/>
              <a:t>23</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5789748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966827"/>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B9FD115E-276B-F044-96D0-0B9FA78006EE}"/>
              </a:ext>
            </a:extLst>
          </p:cNvPr>
          <p:cNvSpPr>
            <a:spLocks noGrp="1"/>
          </p:cNvSpPr>
          <p:nvPr>
            <p:ph type="sldNum" sz="quarter" idx="12"/>
          </p:nvPr>
        </p:nvSpPr>
        <p:spPr/>
        <p:txBody>
          <a:bodyPr/>
          <a:lstStyle/>
          <a:p>
            <a:fld id="{5F07402F-1908-0F43-B844-ECE5D9BD648C}" type="slidenum">
              <a:rPr lang="en-US" smtClean="0"/>
              <a:t>24</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9503709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rgbClr val="FF0000"/>
                                    </a:solidFill>
                                    <a:latin typeface="Cambria Math" panose="02040503050406030204" pitchFamily="18" charset="0"/>
                                    <a:ea typeface="Cambria Math" panose="02040503050406030204" pitchFamily="18" charset="0"/>
                                  </a:rPr>
                                  <m:t>→</m:t>
                                </m:r>
                              </m:oMath>
                            </m:oMathPara>
                          </a14:m>
                          <a:endParaRPr lang="en-US" sz="1100"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71747"/>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D8227451-2873-2849-B28D-A85A63F47BD8}"/>
              </a:ext>
            </a:extLst>
          </p:cNvPr>
          <p:cNvSpPr>
            <a:spLocks noGrp="1"/>
          </p:cNvSpPr>
          <p:nvPr>
            <p:ph type="sldNum" sz="quarter" idx="12"/>
          </p:nvPr>
        </p:nvSpPr>
        <p:spPr/>
        <p:txBody>
          <a:bodyPr/>
          <a:lstStyle/>
          <a:p>
            <a:fld id="{5F07402F-1908-0F43-B844-ECE5D9BD648C}" type="slidenum">
              <a:rPr lang="en-US" smtClean="0"/>
              <a:t>25</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1481252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3004099"/>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58D95A7A-D593-F648-82A1-15D81AE9D3F6}"/>
              </a:ext>
            </a:extLst>
          </p:cNvPr>
          <p:cNvSpPr>
            <a:spLocks noGrp="1"/>
          </p:cNvSpPr>
          <p:nvPr>
            <p:ph type="sldNum" sz="quarter" idx="12"/>
          </p:nvPr>
        </p:nvSpPr>
        <p:spPr/>
        <p:txBody>
          <a:bodyPr/>
          <a:lstStyle/>
          <a:p>
            <a:fld id="{5F07402F-1908-0F43-B844-ECE5D9BD648C}" type="slidenum">
              <a:rPr lang="en-US" smtClean="0"/>
              <a:t>26</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6112843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79204"/>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51F2D946-415A-C145-B3F7-6B118BCF2BAE}"/>
              </a:ext>
            </a:extLst>
          </p:cNvPr>
          <p:cNvSpPr>
            <a:spLocks noGrp="1"/>
          </p:cNvSpPr>
          <p:nvPr>
            <p:ph type="sldNum" sz="quarter" idx="12"/>
          </p:nvPr>
        </p:nvSpPr>
        <p:spPr/>
        <p:txBody>
          <a:bodyPr/>
          <a:lstStyle/>
          <a:p>
            <a:fld id="{5F07402F-1908-0F43-B844-ECE5D9BD648C}" type="slidenum">
              <a:rPr lang="en-US" smtClean="0"/>
              <a:t>27</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751472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758107"/>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C4E14C09-B3F6-FB44-B967-C9C32AD65C69}"/>
              </a:ext>
            </a:extLst>
          </p:cNvPr>
          <p:cNvSpPr>
            <a:spLocks noGrp="1"/>
          </p:cNvSpPr>
          <p:nvPr>
            <p:ph type="sldNum" sz="quarter" idx="12"/>
          </p:nvPr>
        </p:nvSpPr>
        <p:spPr/>
        <p:txBody>
          <a:bodyPr/>
          <a:lstStyle/>
          <a:p>
            <a:fld id="{5F07402F-1908-0F43-B844-ECE5D9BD648C}" type="slidenum">
              <a:rPr lang="en-US" smtClean="0"/>
              <a:t>28</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2966532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𝒆𝒙𝒊𝒕</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r>
                                  <a:rPr lang="en-US" sz="1100" b="1" i="1" smtClean="0">
                                    <a:solidFill>
                                      <a:schemeClr val="tx1"/>
                                    </a:solidFill>
                                    <a:latin typeface="Cambria Math" panose="02040503050406030204" pitchFamily="18" charset="0"/>
                                  </a:rPr>
                                  <m:t>𝟏𝟎𝟎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1975400"/>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CAAAE372-DEFD-A64F-A1F1-F15DB4230768}"/>
              </a:ext>
            </a:extLst>
          </p:cNvPr>
          <p:cNvSpPr>
            <a:spLocks noGrp="1"/>
          </p:cNvSpPr>
          <p:nvPr>
            <p:ph type="sldNum" sz="quarter" idx="12"/>
          </p:nvPr>
        </p:nvSpPr>
        <p:spPr/>
        <p:txBody>
          <a:bodyPr/>
          <a:lstStyle/>
          <a:p>
            <a:fld id="{5F07402F-1908-0F43-B844-ECE5D9BD648C}" type="slidenum">
              <a:rPr lang="en-US" smtClean="0"/>
              <a:t>29</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6499776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56836"/>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CD302B4B-C1CA-3D4D-916D-AEF58E791A3C}"/>
              </a:ext>
            </a:extLst>
          </p:cNvPr>
          <p:cNvSpPr>
            <a:spLocks noGrp="1"/>
          </p:cNvSpPr>
          <p:nvPr>
            <p:ph type="sldNum" sz="quarter" idx="12"/>
          </p:nvPr>
        </p:nvSpPr>
        <p:spPr/>
        <p:txBody>
          <a:bodyPr/>
          <a:lstStyle/>
          <a:p>
            <a:fld id="{5F07402F-1908-0F43-B844-ECE5D9BD648C}" type="slidenum">
              <a:rPr lang="en-US" smtClean="0"/>
              <a:t>30</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0079356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9" y="4124222"/>
          <a:ext cx="1886880" cy="792524"/>
        </p:xfrm>
        <a:graphic>
          <a:graphicData uri="http://schemas.openxmlformats.org/drawingml/2006/table">
            <a:tbl>
              <a:tblPr firstRow="1" bandRow="1">
                <a:tableStyleId>{F5AB1C69-6EDB-4FF4-983F-18BD219EF322}</a:tableStyleId>
              </a:tblPr>
              <a:tblGrid>
                <a:gridCol w="471720">
                  <a:extLst>
                    <a:ext uri="{9D8B030D-6E8A-4147-A177-3AD203B41FA5}">
                      <a16:colId xmlns:a16="http://schemas.microsoft.com/office/drawing/2014/main" val="2860350498"/>
                    </a:ext>
                  </a:extLst>
                </a:gridCol>
                <a:gridCol w="471720">
                  <a:extLst>
                    <a:ext uri="{9D8B030D-6E8A-4147-A177-3AD203B41FA5}">
                      <a16:colId xmlns:a16="http://schemas.microsoft.com/office/drawing/2014/main" val="3757103849"/>
                    </a:ext>
                  </a:extLst>
                </a:gridCol>
                <a:gridCol w="471720">
                  <a:extLst>
                    <a:ext uri="{9D8B030D-6E8A-4147-A177-3AD203B41FA5}">
                      <a16:colId xmlns:a16="http://schemas.microsoft.com/office/drawing/2014/main" val="2648987907"/>
                    </a:ext>
                  </a:extLst>
                </a:gridCol>
                <a:gridCol w="471720">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56836"/>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BA556687-27EC-8B43-8210-709B55F13034}"/>
              </a:ext>
            </a:extLst>
          </p:cNvPr>
          <p:cNvSpPr>
            <a:spLocks noGrp="1"/>
          </p:cNvSpPr>
          <p:nvPr>
            <p:ph type="sldNum" sz="quarter" idx="12"/>
          </p:nvPr>
        </p:nvSpPr>
        <p:spPr/>
        <p:txBody>
          <a:bodyPr/>
          <a:lstStyle/>
          <a:p>
            <a:fld id="{5F07402F-1908-0F43-B844-ECE5D9BD648C}" type="slidenum">
              <a:rPr lang="en-US" smtClean="0"/>
              <a:t>31</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6870003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8" y="4124222"/>
          <a:ext cx="2003664" cy="792524"/>
        </p:xfrm>
        <a:graphic>
          <a:graphicData uri="http://schemas.openxmlformats.org/drawingml/2006/table">
            <a:tbl>
              <a:tblPr firstRow="1" bandRow="1">
                <a:tableStyleId>{F5AB1C69-6EDB-4FF4-983F-18BD219EF322}</a:tableStyleId>
              </a:tblPr>
              <a:tblGrid>
                <a:gridCol w="500916">
                  <a:extLst>
                    <a:ext uri="{9D8B030D-6E8A-4147-A177-3AD203B41FA5}">
                      <a16:colId xmlns:a16="http://schemas.microsoft.com/office/drawing/2014/main" val="2860350498"/>
                    </a:ext>
                  </a:extLst>
                </a:gridCol>
                <a:gridCol w="500916">
                  <a:extLst>
                    <a:ext uri="{9D8B030D-6E8A-4147-A177-3AD203B41FA5}">
                      <a16:colId xmlns:a16="http://schemas.microsoft.com/office/drawing/2014/main" val="3757103849"/>
                    </a:ext>
                  </a:extLst>
                </a:gridCol>
                <a:gridCol w="500916">
                  <a:extLst>
                    <a:ext uri="{9D8B030D-6E8A-4147-A177-3AD203B41FA5}">
                      <a16:colId xmlns:a16="http://schemas.microsoft.com/office/drawing/2014/main" val="2648987907"/>
                    </a:ext>
                  </a:extLst>
                </a:gridCol>
                <a:gridCol w="500916">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-90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787922"/>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DC0B3598-A685-D743-B253-63136BF7A81F}"/>
              </a:ext>
            </a:extLst>
          </p:cNvPr>
          <p:cNvSpPr>
            <a:spLocks noGrp="1"/>
          </p:cNvSpPr>
          <p:nvPr>
            <p:ph type="sldNum" sz="quarter" idx="12"/>
          </p:nvPr>
        </p:nvSpPr>
        <p:spPr/>
        <p:txBody>
          <a:bodyPr/>
          <a:lstStyle/>
          <a:p>
            <a:fld id="{5F07402F-1908-0F43-B844-ECE5D9BD648C}" type="slidenum">
              <a:rPr lang="en-US" smtClean="0"/>
              <a:t>32</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609631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8" y="4124222"/>
          <a:ext cx="2003664" cy="792524"/>
        </p:xfrm>
        <a:graphic>
          <a:graphicData uri="http://schemas.openxmlformats.org/drawingml/2006/table">
            <a:tbl>
              <a:tblPr firstRow="1" bandRow="1">
                <a:tableStyleId>{F5AB1C69-6EDB-4FF4-983F-18BD219EF322}</a:tableStyleId>
              </a:tblPr>
              <a:tblGrid>
                <a:gridCol w="500916">
                  <a:extLst>
                    <a:ext uri="{9D8B030D-6E8A-4147-A177-3AD203B41FA5}">
                      <a16:colId xmlns:a16="http://schemas.microsoft.com/office/drawing/2014/main" val="2860350498"/>
                    </a:ext>
                  </a:extLst>
                </a:gridCol>
                <a:gridCol w="500916">
                  <a:extLst>
                    <a:ext uri="{9D8B030D-6E8A-4147-A177-3AD203B41FA5}">
                      <a16:colId xmlns:a16="http://schemas.microsoft.com/office/drawing/2014/main" val="3757103849"/>
                    </a:ext>
                  </a:extLst>
                </a:gridCol>
                <a:gridCol w="500916">
                  <a:extLst>
                    <a:ext uri="{9D8B030D-6E8A-4147-A177-3AD203B41FA5}">
                      <a16:colId xmlns:a16="http://schemas.microsoft.com/office/drawing/2014/main" val="2648987907"/>
                    </a:ext>
                  </a:extLst>
                </a:gridCol>
                <a:gridCol w="500916">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0,-90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𝒛</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1982852"/>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A377F44D-92A0-D649-80E8-653EB627A20A}"/>
              </a:ext>
            </a:extLst>
          </p:cNvPr>
          <p:cNvSpPr>
            <a:spLocks noGrp="1"/>
          </p:cNvSpPr>
          <p:nvPr>
            <p:ph type="sldNum" sz="quarter" idx="12"/>
          </p:nvPr>
        </p:nvSpPr>
        <p:spPr/>
        <p:txBody>
          <a:bodyPr/>
          <a:lstStyle/>
          <a:p>
            <a:fld id="{5F07402F-1908-0F43-B844-ECE5D9BD648C}" type="slidenum">
              <a:rPr lang="en-US" smtClean="0"/>
              <a:t>33</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mc:AlternateContent xmlns:mc="http://schemas.openxmlformats.org/markup-compatibility/2006" xmlns:p14="http://schemas.microsoft.com/office/powerpoint/2010/main">
        <mc:Choice Requires="p14">
          <p:contentPart p14:bwMode="auto" r:id="rId10">
            <p14:nvContentPartPr>
              <p14:cNvPr id="4" name="Ink 3"/>
              <p14:cNvContentPartPr/>
              <p14:nvPr/>
            </p14:nvContentPartPr>
            <p14:xfrm>
              <a:off x="4159080" y="4735080"/>
              <a:ext cx="1647720" cy="73800"/>
            </p14:xfrm>
          </p:contentPart>
        </mc:Choice>
        <mc:Fallback xmlns="">
          <p:pic>
            <p:nvPicPr>
              <p:cNvPr id="4" name="Ink 3"/>
              <p:cNvPicPr/>
              <p:nvPr/>
            </p:nvPicPr>
            <p:blipFill>
              <a:blip r:embed="rId11"/>
              <a:stretch>
                <a:fillRect/>
              </a:stretch>
            </p:blipFill>
            <p:spPr>
              <a:xfrm>
                <a:off x="4149720" y="4725720"/>
                <a:ext cx="1666440" cy="92520"/>
              </a:xfrm>
              <a:prstGeom prst="rect">
                <a:avLst/>
              </a:prstGeom>
            </p:spPr>
          </p:pic>
        </mc:Fallback>
      </mc:AlternateContent>
    </p:spTree>
    <p:extLst>
      <p:ext uri="{BB962C8B-B14F-4D97-AF65-F5344CB8AC3E}">
        <p14:creationId xmlns:p14="http://schemas.microsoft.com/office/powerpoint/2010/main" val="35983309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8" y="4124222"/>
          <a:ext cx="2003664" cy="792524"/>
        </p:xfrm>
        <a:graphic>
          <a:graphicData uri="http://schemas.openxmlformats.org/drawingml/2006/table">
            <a:tbl>
              <a:tblPr firstRow="1" bandRow="1">
                <a:tableStyleId>{F5AB1C69-6EDB-4FF4-983F-18BD219EF322}</a:tableStyleId>
              </a:tblPr>
              <a:tblGrid>
                <a:gridCol w="500916">
                  <a:extLst>
                    <a:ext uri="{9D8B030D-6E8A-4147-A177-3AD203B41FA5}">
                      <a16:colId xmlns:a16="http://schemas.microsoft.com/office/drawing/2014/main" val="2860350498"/>
                    </a:ext>
                  </a:extLst>
                </a:gridCol>
                <a:gridCol w="500916">
                  <a:extLst>
                    <a:ext uri="{9D8B030D-6E8A-4147-A177-3AD203B41FA5}">
                      <a16:colId xmlns:a16="http://schemas.microsoft.com/office/drawing/2014/main" val="3757103849"/>
                    </a:ext>
                  </a:extLst>
                </a:gridCol>
                <a:gridCol w="500916">
                  <a:extLst>
                    <a:ext uri="{9D8B030D-6E8A-4147-A177-3AD203B41FA5}">
                      <a16:colId xmlns:a16="http://schemas.microsoft.com/office/drawing/2014/main" val="2648987907"/>
                    </a:ext>
                  </a:extLst>
                </a:gridCol>
                <a:gridCol w="500916">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0,-90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rgbClr val="FF0000"/>
                                    </a:solidFill>
                                    <a:latin typeface="Cambria Math" panose="02040503050406030204" pitchFamily="18" charset="0"/>
                                    <a:ea typeface="Cambria Math" panose="02040503050406030204" pitchFamily="18" charset="0"/>
                                  </a:rPr>
                                  <m:t>→</m:t>
                                </m:r>
                              </m:oMath>
                            </m:oMathPara>
                          </a14:m>
                          <a:endParaRPr lang="en-US" sz="1100" dirty="0">
                            <a:solidFill>
                              <a:srgbClr val="FF0000"/>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594110"/>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24858210-8A31-2245-A77E-5749A76BE949}"/>
              </a:ext>
            </a:extLst>
          </p:cNvPr>
          <p:cNvSpPr>
            <a:spLocks noGrp="1"/>
          </p:cNvSpPr>
          <p:nvPr>
            <p:ph type="sldNum" sz="quarter" idx="12"/>
          </p:nvPr>
        </p:nvSpPr>
        <p:spPr/>
        <p:txBody>
          <a:bodyPr/>
          <a:lstStyle/>
          <a:p>
            <a:fld id="{5F07402F-1908-0F43-B844-ECE5D9BD648C}" type="slidenum">
              <a:rPr lang="en-US" smtClean="0"/>
              <a:t>34</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3155582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8" y="4124222"/>
          <a:ext cx="2003664" cy="792524"/>
        </p:xfrm>
        <a:graphic>
          <a:graphicData uri="http://schemas.openxmlformats.org/drawingml/2006/table">
            <a:tbl>
              <a:tblPr firstRow="1" bandRow="1">
                <a:tableStyleId>{F5AB1C69-6EDB-4FF4-983F-18BD219EF322}</a:tableStyleId>
              </a:tblPr>
              <a:tblGrid>
                <a:gridCol w="500916">
                  <a:extLst>
                    <a:ext uri="{9D8B030D-6E8A-4147-A177-3AD203B41FA5}">
                      <a16:colId xmlns:a16="http://schemas.microsoft.com/office/drawing/2014/main" val="2860350498"/>
                    </a:ext>
                  </a:extLst>
                </a:gridCol>
                <a:gridCol w="500916">
                  <a:extLst>
                    <a:ext uri="{9D8B030D-6E8A-4147-A177-3AD203B41FA5}">
                      <a16:colId xmlns:a16="http://schemas.microsoft.com/office/drawing/2014/main" val="3757103849"/>
                    </a:ext>
                  </a:extLst>
                </a:gridCol>
                <a:gridCol w="500916">
                  <a:extLst>
                    <a:ext uri="{9D8B030D-6E8A-4147-A177-3AD203B41FA5}">
                      <a16:colId xmlns:a16="http://schemas.microsoft.com/office/drawing/2014/main" val="2648987907"/>
                    </a:ext>
                  </a:extLst>
                </a:gridCol>
                <a:gridCol w="500916">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0,-90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extLst/>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758104"/>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Slide Number Placeholder 2">
            <a:extLst>
              <a:ext uri="{FF2B5EF4-FFF2-40B4-BE49-F238E27FC236}">
                <a16:creationId xmlns:a16="http://schemas.microsoft.com/office/drawing/2014/main" id="{071547D3-F3DD-4E42-A254-1338346AEF29}"/>
              </a:ext>
            </a:extLst>
          </p:cNvPr>
          <p:cNvSpPr>
            <a:spLocks noGrp="1"/>
          </p:cNvSpPr>
          <p:nvPr>
            <p:ph type="sldNum" sz="quarter" idx="12"/>
          </p:nvPr>
        </p:nvSpPr>
        <p:spPr/>
        <p:txBody>
          <a:bodyPr/>
          <a:lstStyle/>
          <a:p>
            <a:fld id="{5F07402F-1908-0F43-B844-ECE5D9BD648C}" type="slidenum">
              <a:rPr lang="en-US" smtClean="0"/>
              <a:t>35</a:t>
            </a:fld>
            <a:endParaRPr lang="en-US"/>
          </a:p>
        </p:txBody>
      </p:sp>
      <p:pic>
        <p:nvPicPr>
          <p:cNvPr id="17"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p:spTree>
    <p:extLst>
      <p:ext uri="{BB962C8B-B14F-4D97-AF65-F5344CB8AC3E}">
        <p14:creationId xmlns:p14="http://schemas.microsoft.com/office/powerpoint/2010/main" val="13868536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Table 14">
            <a:extLst>
              <a:ext uri="{FF2B5EF4-FFF2-40B4-BE49-F238E27FC236}">
                <a16:creationId xmlns:a16="http://schemas.microsoft.com/office/drawing/2014/main" id="{D44F4EDA-CD7B-5641-9031-BA5D35318EFE}"/>
              </a:ext>
            </a:extLst>
          </p:cNvPr>
          <p:cNvGraphicFramePr>
            <a:graphicFrameLocks noGrp="1"/>
          </p:cNvGraphicFramePr>
          <p:nvPr/>
        </p:nvGraphicFramePr>
        <p:xfrm>
          <a:off x="442289" y="4124222"/>
          <a:ext cx="2743200" cy="1371600"/>
        </p:xfrm>
        <a:graphic>
          <a:graphicData uri="http://schemas.openxmlformats.org/drawingml/2006/table">
            <a:tbl>
              <a:tblPr firstRow="1" bandRow="1">
                <a:tableStyleId>{F5AB1C69-6EDB-4FF4-983F-18BD219EF322}</a:tableStyleId>
              </a:tblPr>
              <a:tblGrid>
                <a:gridCol w="685800">
                  <a:extLst>
                    <a:ext uri="{9D8B030D-6E8A-4147-A177-3AD203B41FA5}">
                      <a16:colId xmlns:a16="http://schemas.microsoft.com/office/drawing/2014/main" val="2860350498"/>
                    </a:ext>
                  </a:extLst>
                </a:gridCol>
                <a:gridCol w="685800">
                  <a:extLst>
                    <a:ext uri="{9D8B030D-6E8A-4147-A177-3AD203B41FA5}">
                      <a16:colId xmlns:a16="http://schemas.microsoft.com/office/drawing/2014/main" val="3757103849"/>
                    </a:ext>
                  </a:extLst>
                </a:gridCol>
                <a:gridCol w="685800">
                  <a:extLst>
                    <a:ext uri="{9D8B030D-6E8A-4147-A177-3AD203B41FA5}">
                      <a16:colId xmlns:a16="http://schemas.microsoft.com/office/drawing/2014/main" val="2648987907"/>
                    </a:ext>
                  </a:extLst>
                </a:gridCol>
                <a:gridCol w="685800">
                  <a:extLst>
                    <a:ext uri="{9D8B030D-6E8A-4147-A177-3AD203B41FA5}">
                      <a16:colId xmlns:a16="http://schemas.microsoft.com/office/drawing/2014/main" val="4267959680"/>
                    </a:ext>
                  </a:extLst>
                </a:gridCol>
              </a:tblGrid>
              <a:tr h="685800">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sz="11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685800">
                <a:tc>
                  <a:txBody>
                    <a:bodyPr/>
                    <a:lstStyle/>
                    <a:p>
                      <a:pPr algn="ctr"/>
                      <a:r>
                        <a:rPr lang="en-US" sz="1100" dirty="0"/>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p:sp>
        <p:nvSpPr>
          <p:cNvPr id="2" name="Title 1">
            <a:extLst>
              <a:ext uri="{FF2B5EF4-FFF2-40B4-BE49-F238E27FC236}">
                <a16:creationId xmlns:a16="http://schemas.microsoft.com/office/drawing/2014/main" id="{B49D8241-F42F-2C4B-B632-088462998AE1}"/>
              </a:ext>
            </a:extLst>
          </p:cNvPr>
          <p:cNvSpPr>
            <a:spLocks noGrp="1"/>
          </p:cNvSpPr>
          <p:nvPr>
            <p:ph type="title"/>
          </p:nvPr>
        </p:nvSpPr>
        <p:spPr/>
        <p:txBody>
          <a:bodyPr>
            <a:normAutofit fontScale="90000"/>
          </a:bodyPr>
          <a:lstStyle/>
          <a:p>
            <a:r>
              <a:rPr lang="en-US" dirty="0"/>
              <a:t>Q-learning: Off-policy TD Control</a:t>
            </a:r>
          </a:p>
        </p:txBody>
      </p:sp>
      <p:pic>
        <p:nvPicPr>
          <p:cNvPr id="5" name="Content Placeholder 4" descr="A screenshot of a cell phone&#10;&#10;Description automatically generated">
            <a:extLst>
              <a:ext uri="{FF2B5EF4-FFF2-40B4-BE49-F238E27FC236}">
                <a16:creationId xmlns:a16="http://schemas.microsoft.com/office/drawing/2014/main" id="{F29220F9-9CB4-E64E-832B-5E8E1B87AC2D}"/>
              </a:ext>
            </a:extLst>
          </p:cNvPr>
          <p:cNvPicPr>
            <a:picLocks noGrp="1" noChangeAspect="1"/>
          </p:cNvPicPr>
          <p:nvPr>
            <p:ph idx="1"/>
          </p:nvPr>
        </p:nvPicPr>
        <p:blipFill>
          <a:blip r:embed="rId2"/>
          <a:stretch>
            <a:fillRect/>
          </a:stretch>
        </p:blipFill>
        <p:spPr>
          <a:xfrm>
            <a:off x="238540" y="1127409"/>
            <a:ext cx="8347774" cy="2464267"/>
          </a:xfrm>
        </p:spPr>
      </p:pic>
      <p:pic>
        <p:nvPicPr>
          <p:cNvPr id="6" name="Picture 5" descr="Image result for treasure clipart">
            <a:extLst>
              <a:ext uri="{FF2B5EF4-FFF2-40B4-BE49-F238E27FC236}">
                <a16:creationId xmlns:a16="http://schemas.microsoft.com/office/drawing/2014/main" id="{E91663D7-E8B6-544A-A05B-DA203BF322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290" y="4247104"/>
            <a:ext cx="665633" cy="45263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Image result for robot clipart">
            <a:extLst>
              <a:ext uri="{FF2B5EF4-FFF2-40B4-BE49-F238E27FC236}">
                <a16:creationId xmlns:a16="http://schemas.microsoft.com/office/drawing/2014/main" id="{C346E76C-1021-0B48-A819-2C836B02BA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3893" y="4165546"/>
            <a:ext cx="511689" cy="60315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rate by Firkin">
            <a:extLst>
              <a:ext uri="{FF2B5EF4-FFF2-40B4-BE49-F238E27FC236}">
                <a16:creationId xmlns:a16="http://schemas.microsoft.com/office/drawing/2014/main" id="{15573986-FC31-B942-BDCC-8A514A6199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60364" y="4152252"/>
            <a:ext cx="610217" cy="6423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B05D2CA9-89AC-D94D-BB9E-CF2F12690E45}"/>
              </a:ext>
            </a:extLst>
          </p:cNvPr>
          <p:cNvSpPr txBox="1"/>
          <p:nvPr/>
        </p:nvSpPr>
        <p:spPr>
          <a:xfrm>
            <a:off x="542951" y="3824140"/>
            <a:ext cx="511679" cy="323165"/>
          </a:xfrm>
          <a:prstGeom prst="rect">
            <a:avLst/>
          </a:prstGeom>
          <a:noFill/>
        </p:spPr>
        <p:txBody>
          <a:bodyPr wrap="none" rtlCol="0">
            <a:spAutoFit/>
          </a:bodyPr>
          <a:lstStyle/>
          <a:p>
            <a:r>
              <a:rPr lang="en-US" sz="1500" b="1" dirty="0">
                <a:solidFill>
                  <a:srgbClr val="00B050"/>
                </a:solidFill>
              </a:rPr>
              <a:t>+10</a:t>
            </a:r>
          </a:p>
        </p:txBody>
      </p:sp>
      <p:sp>
        <p:nvSpPr>
          <p:cNvPr id="10" name="TextBox 9">
            <a:extLst>
              <a:ext uri="{FF2B5EF4-FFF2-40B4-BE49-F238E27FC236}">
                <a16:creationId xmlns:a16="http://schemas.microsoft.com/office/drawing/2014/main" id="{4C5DD4C6-DA64-4449-B0FA-1A5BB6D9C275}"/>
              </a:ext>
            </a:extLst>
          </p:cNvPr>
          <p:cNvSpPr txBox="1"/>
          <p:nvPr/>
        </p:nvSpPr>
        <p:spPr>
          <a:xfrm>
            <a:off x="2560936" y="3833000"/>
            <a:ext cx="570990" cy="323165"/>
          </a:xfrm>
          <a:prstGeom prst="rect">
            <a:avLst/>
          </a:prstGeom>
          <a:noFill/>
        </p:spPr>
        <p:txBody>
          <a:bodyPr wrap="none" rtlCol="0">
            <a:spAutoFit/>
          </a:bodyPr>
          <a:lstStyle/>
          <a:p>
            <a:r>
              <a:rPr lang="en-US" sz="1500" b="1" dirty="0">
                <a:solidFill>
                  <a:srgbClr val="FF0000"/>
                </a:solidFill>
              </a:rPr>
              <a:t>-100</a:t>
            </a: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24CEFF00-C285-7442-8812-1777B07B8930}"/>
                  </a:ext>
                </a:extLst>
              </p:cNvPr>
              <p:cNvSpPr/>
              <p:nvPr/>
            </p:nvSpPr>
            <p:spPr>
              <a:xfrm>
                <a:off x="1449559" y="3701895"/>
                <a:ext cx="649345" cy="25391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𝛾</m:t>
                      </m:r>
                      <m:r>
                        <a:rPr lang="en-US" sz="1050" i="1">
                          <a:latin typeface="Cambria Math" panose="02040503050406030204" pitchFamily="18" charset="0"/>
                        </a:rPr>
                        <m:t>=0.9</m:t>
                      </m:r>
                    </m:oMath>
                  </m:oMathPara>
                </a14:m>
                <a:endParaRPr lang="en-US" sz="1050" dirty="0"/>
              </a:p>
            </p:txBody>
          </p:sp>
        </mc:Choice>
        <mc:Fallback xmlns="">
          <p:sp>
            <p:nvSpPr>
              <p:cNvPr id="11" name="Rectangle 10">
                <a:extLst>
                  <a:ext uri="{FF2B5EF4-FFF2-40B4-BE49-F238E27FC236}">
                    <a16:creationId xmlns:a16="http://schemas.microsoft.com/office/drawing/2014/main" id="{24CEFF00-C285-7442-8812-1777B07B8930}"/>
                  </a:ext>
                </a:extLst>
              </p:cNvPr>
              <p:cNvSpPr>
                <a:spLocks noRot="1" noChangeAspect="1" noMove="1" noResize="1" noEditPoints="1" noAdjustHandles="1" noChangeArrowheads="1" noChangeShapeType="1" noTextEdit="1"/>
              </p:cNvSpPr>
              <p:nvPr/>
            </p:nvSpPr>
            <p:spPr>
              <a:xfrm>
                <a:off x="1449559" y="3701895"/>
                <a:ext cx="649345" cy="253916"/>
              </a:xfrm>
              <a:prstGeom prst="rect">
                <a:avLst/>
              </a:prstGeom>
              <a:blipFill>
                <a:blip r:embed="rId6"/>
                <a:stretch>
                  <a:fillRect/>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426C4B7-F45B-2744-874D-8F1C247103A6}"/>
              </a:ext>
            </a:extLst>
          </p:cNvPr>
          <p:cNvGraphicFramePr>
            <a:graphicFrameLocks noGrp="1"/>
          </p:cNvGraphicFramePr>
          <p:nvPr/>
        </p:nvGraphicFramePr>
        <p:xfrm>
          <a:off x="6986278" y="4124222"/>
          <a:ext cx="2003664" cy="792524"/>
        </p:xfrm>
        <a:graphic>
          <a:graphicData uri="http://schemas.openxmlformats.org/drawingml/2006/table">
            <a:tbl>
              <a:tblPr firstRow="1" bandRow="1">
                <a:tableStyleId>{F5AB1C69-6EDB-4FF4-983F-18BD219EF322}</a:tableStyleId>
              </a:tblPr>
              <a:tblGrid>
                <a:gridCol w="500916">
                  <a:extLst>
                    <a:ext uri="{9D8B030D-6E8A-4147-A177-3AD203B41FA5}">
                      <a16:colId xmlns:a16="http://schemas.microsoft.com/office/drawing/2014/main" val="2860350498"/>
                    </a:ext>
                  </a:extLst>
                </a:gridCol>
                <a:gridCol w="500916">
                  <a:extLst>
                    <a:ext uri="{9D8B030D-6E8A-4147-A177-3AD203B41FA5}">
                      <a16:colId xmlns:a16="http://schemas.microsoft.com/office/drawing/2014/main" val="3757103849"/>
                    </a:ext>
                  </a:extLst>
                </a:gridCol>
                <a:gridCol w="500916">
                  <a:extLst>
                    <a:ext uri="{9D8B030D-6E8A-4147-A177-3AD203B41FA5}">
                      <a16:colId xmlns:a16="http://schemas.microsoft.com/office/drawing/2014/main" val="2648987907"/>
                    </a:ext>
                  </a:extLst>
                </a:gridCol>
                <a:gridCol w="500916">
                  <a:extLst>
                    <a:ext uri="{9D8B030D-6E8A-4147-A177-3AD203B41FA5}">
                      <a16:colId xmlns:a16="http://schemas.microsoft.com/office/drawing/2014/main" val="4267959680"/>
                    </a:ext>
                  </a:extLst>
                </a:gridCol>
              </a:tblGrid>
              <a:tr h="396262">
                <a:tc>
                  <a:txBody>
                    <a:bodyPr/>
                    <a:lstStyle/>
                    <a:p>
                      <a:pPr algn="ctr"/>
                      <a:r>
                        <a:rPr lang="en-US" sz="1100" dirty="0">
                          <a:solidFill>
                            <a:schemeClr val="tx1"/>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a:t>
                      </a:r>
                      <a:r>
                        <a:rPr lang="en-US" sz="1100" dirty="0">
                          <a:solidFill>
                            <a:srgbClr val="FF0000"/>
                          </a:solidFill>
                        </a:rPr>
                        <a:t>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0,-90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100" dirty="0">
                          <a:solidFill>
                            <a:schemeClr val="tx1"/>
                          </a:solidFill>
                        </a:rPr>
                        <a:t>-100</a:t>
                      </a: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w</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x</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y</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z</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7D18704E-DB56-7E44-9C6D-81FBBB422DF3}"/>
                  </a:ext>
                </a:extLst>
              </p:cNvPr>
              <p:cNvSpPr/>
              <p:nvPr/>
            </p:nvSpPr>
            <p:spPr>
              <a:xfrm>
                <a:off x="6217375" y="4093579"/>
                <a:ext cx="801758"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𝑄</m:t>
                      </m:r>
                      <m:r>
                        <a:rPr lang="en-US" sz="2400" i="1">
                          <a:latin typeface="Cambria Math" panose="02040503050406030204" pitchFamily="18" charset="0"/>
                        </a:rPr>
                        <m:t>=</m:t>
                      </m:r>
                    </m:oMath>
                  </m:oMathPara>
                </a14:m>
                <a:endParaRPr lang="en-US" sz="2400" dirty="0"/>
              </a:p>
            </p:txBody>
          </p:sp>
        </mc:Choice>
        <mc:Fallback xmlns="">
          <p:sp>
            <p:nvSpPr>
              <p:cNvPr id="13" name="Rectangle 12">
                <a:extLst>
                  <a:ext uri="{FF2B5EF4-FFF2-40B4-BE49-F238E27FC236}">
                    <a16:creationId xmlns:a16="http://schemas.microsoft.com/office/drawing/2014/main" id="{7D18704E-DB56-7E44-9C6D-81FBBB422DF3}"/>
                  </a:ext>
                </a:extLst>
              </p:cNvPr>
              <p:cNvSpPr>
                <a:spLocks noRot="1" noChangeAspect="1" noMove="1" noResize="1" noEditPoints="1" noAdjustHandles="1" noChangeArrowheads="1" noChangeShapeType="1" noTextEdit="1"/>
              </p:cNvSpPr>
              <p:nvPr/>
            </p:nvSpPr>
            <p:spPr>
              <a:xfrm>
                <a:off x="6217375" y="4093579"/>
                <a:ext cx="801758" cy="461665"/>
              </a:xfrm>
              <a:prstGeom prst="rect">
                <a:avLst/>
              </a:prstGeom>
              <a:blipFill>
                <a:blip r:embed="rId7"/>
                <a:stretch>
                  <a:fillRect b="-1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𝒙</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ea typeface="Cambria Math" panose="02040503050406030204" pitchFamily="18" charset="0"/>
                                  </a:rPr>
                                  <m:t>→</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𝟎</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14:m>
                            <m:oMathPara xmlns:m="http://schemas.openxmlformats.org/officeDocument/2006/math">
                              <m:oMathParaPr>
                                <m:jc m:val="centerGroup"/>
                              </m:oMathParaPr>
                              <m:oMath xmlns:m="http://schemas.openxmlformats.org/officeDocument/2006/math">
                                <m:r>
                                  <a:rPr lang="en-US" sz="1100" b="1" i="1" smtClean="0">
                                    <a:solidFill>
                                      <a:schemeClr val="tx1"/>
                                    </a:solidFill>
                                    <a:latin typeface="Cambria Math" panose="02040503050406030204" pitchFamily="18" charset="0"/>
                                  </a:rPr>
                                  <m:t>𝒚</m:t>
                                </m:r>
                              </m:oMath>
                            </m:oMathPara>
                          </a14:m>
                          <a:endParaRPr lang="en-US" sz="1100" dirty="0">
                            <a:solidFill>
                              <a:schemeClr val="tx1"/>
                            </a:solidFill>
                          </a:endParaRPr>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Choice>
        <mc:Fallback xmlns="">
          <p:graphicFrame>
            <p:nvGraphicFramePr>
              <p:cNvPr id="14" name="Table 13">
                <a:extLst>
                  <a:ext uri="{FF2B5EF4-FFF2-40B4-BE49-F238E27FC236}">
                    <a16:creationId xmlns:a16="http://schemas.microsoft.com/office/drawing/2014/main" id="{3DC33164-0CED-E240-A7AD-E96970B224BD}"/>
                  </a:ext>
                </a:extLst>
              </p:cNvPr>
              <p:cNvGraphicFramePr>
                <a:graphicFrameLocks noGrp="1"/>
              </p:cNvGraphicFramePr>
              <p:nvPr/>
            </p:nvGraphicFramePr>
            <p:xfrm>
              <a:off x="3972465" y="4124222"/>
              <a:ext cx="1760420" cy="792524"/>
            </p:xfrm>
            <a:graphic>
              <a:graphicData uri="http://schemas.openxmlformats.org/drawingml/2006/table">
                <a:tbl>
                  <a:tblPr firstRow="1" bandRow="1">
                    <a:tableStyleId>{F5AB1C69-6EDB-4FF4-983F-18BD219EF322}</a:tableStyleId>
                  </a:tblPr>
                  <a:tblGrid>
                    <a:gridCol w="440105">
                      <a:extLst>
                        <a:ext uri="{9D8B030D-6E8A-4147-A177-3AD203B41FA5}">
                          <a16:colId xmlns:a16="http://schemas.microsoft.com/office/drawing/2014/main" val="2860350498"/>
                        </a:ext>
                      </a:extLst>
                    </a:gridCol>
                    <a:gridCol w="440105">
                      <a:extLst>
                        <a:ext uri="{9D8B030D-6E8A-4147-A177-3AD203B41FA5}">
                          <a16:colId xmlns:a16="http://schemas.microsoft.com/office/drawing/2014/main" val="3757103849"/>
                        </a:ext>
                      </a:extLst>
                    </a:gridCol>
                    <a:gridCol w="440105">
                      <a:extLst>
                        <a:ext uri="{9D8B030D-6E8A-4147-A177-3AD203B41FA5}">
                          <a16:colId xmlns:a16="http://schemas.microsoft.com/office/drawing/2014/main" val="2648987907"/>
                        </a:ext>
                      </a:extLst>
                    </a:gridCol>
                    <a:gridCol w="440105">
                      <a:extLst>
                        <a:ext uri="{9D8B030D-6E8A-4147-A177-3AD203B41FA5}">
                          <a16:colId xmlns:a16="http://schemas.microsoft.com/office/drawing/2014/main" val="4267959680"/>
                        </a:ext>
                      </a:extLst>
                    </a:gridCol>
                  </a:tblGrid>
                  <a:tr h="396262">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370" t="-1515" r="-30000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102778" t="-1515" r="-204167"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200000" t="-1515" r="-101370" b="-98485"/>
                          </a:stretch>
                        </a:blipFill>
                      </a:tcPr>
                    </a:tc>
                    <a:tc>
                      <a:txBody>
                        <a:bodyPr/>
                        <a:lstStyle/>
                        <a:p>
                          <a:endParaRPr lang="en-US"/>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304167" t="-1515" r="-2778" b="-98485"/>
                          </a:stretch>
                        </a:blipFill>
                      </a:tcPr>
                    </a:tc>
                    <a:extLst>
                      <a:ext uri="{0D108BD9-81ED-4DB2-BD59-A6C34878D82A}">
                        <a16:rowId xmlns:a16="http://schemas.microsoft.com/office/drawing/2014/main" val="586904092"/>
                      </a:ext>
                    </a:extLst>
                  </a:tr>
                  <a:tr h="396262">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A</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R</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100" dirty="0">
                              <a:solidFill>
                                <a:schemeClr val="tx1"/>
                              </a:solidFill>
                            </a:rPr>
                            <a:t>S’</a:t>
                          </a:r>
                        </a:p>
                      </a:txBody>
                      <a:tcPr marL="68580" marR="68580" marT="34290" marB="3429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2537480364"/>
                      </a:ext>
                    </a:extLst>
                  </a:tr>
                </a:tbl>
              </a:graphicData>
            </a:graphic>
          </p:graphicFrame>
        </mc:Fallback>
      </mc:AlternateContent>
      <p:sp>
        <p:nvSpPr>
          <p:cNvPr id="16" name="Right Arrow 15">
            <a:extLst>
              <a:ext uri="{FF2B5EF4-FFF2-40B4-BE49-F238E27FC236}">
                <a16:creationId xmlns:a16="http://schemas.microsoft.com/office/drawing/2014/main" id="{CA955E19-67EA-3A4B-B6E4-9F00AD8B025A}"/>
              </a:ext>
            </a:extLst>
          </p:cNvPr>
          <p:cNvSpPr/>
          <p:nvPr/>
        </p:nvSpPr>
        <p:spPr>
          <a:xfrm>
            <a:off x="207506" y="2758104"/>
            <a:ext cx="305628" cy="2515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7" name="TextBox 16">
            <a:extLst>
              <a:ext uri="{FF2B5EF4-FFF2-40B4-BE49-F238E27FC236}">
                <a16:creationId xmlns:a16="http://schemas.microsoft.com/office/drawing/2014/main" id="{EA6F1E92-897C-5B49-AB23-488B4B43F74D}"/>
              </a:ext>
            </a:extLst>
          </p:cNvPr>
          <p:cNvSpPr txBox="1"/>
          <p:nvPr/>
        </p:nvSpPr>
        <p:spPr>
          <a:xfrm>
            <a:off x="6490108" y="2319522"/>
            <a:ext cx="1879041" cy="461665"/>
          </a:xfrm>
          <a:prstGeom prst="rect">
            <a:avLst/>
          </a:prstGeom>
          <a:noFill/>
        </p:spPr>
        <p:txBody>
          <a:bodyPr wrap="none" rtlCol="0">
            <a:spAutoFit/>
          </a:bodyPr>
          <a:lstStyle/>
          <a:p>
            <a:r>
              <a:rPr lang="en-US" sz="2400" dirty="0">
                <a:solidFill>
                  <a:srgbClr val="FF0000"/>
                </a:solidFill>
              </a:rPr>
              <a:t>And so on…</a:t>
            </a:r>
          </a:p>
        </p:txBody>
      </p:sp>
      <p:sp>
        <p:nvSpPr>
          <p:cNvPr id="3" name="Slide Number Placeholder 2">
            <a:extLst>
              <a:ext uri="{FF2B5EF4-FFF2-40B4-BE49-F238E27FC236}">
                <a16:creationId xmlns:a16="http://schemas.microsoft.com/office/drawing/2014/main" id="{028BC84D-F6EA-E945-B733-54932BBB4F10}"/>
              </a:ext>
            </a:extLst>
          </p:cNvPr>
          <p:cNvSpPr>
            <a:spLocks noGrp="1"/>
          </p:cNvSpPr>
          <p:nvPr>
            <p:ph type="sldNum" sz="quarter" idx="12"/>
          </p:nvPr>
        </p:nvSpPr>
        <p:spPr/>
        <p:txBody>
          <a:bodyPr/>
          <a:lstStyle/>
          <a:p>
            <a:fld id="{5F07402F-1908-0F43-B844-ECE5D9BD648C}" type="slidenum">
              <a:rPr lang="en-US" smtClean="0"/>
              <a:t>36</a:t>
            </a:fld>
            <a:endParaRPr lang="en-US"/>
          </a:p>
        </p:txBody>
      </p:sp>
      <p:pic>
        <p:nvPicPr>
          <p:cNvPr id="18" name="Google Shape;60;p14" descr="Birla Institute of Technology and Science, Pilani | Logopedia | Fandom"/>
          <p:cNvPicPr preferRelativeResize="0"/>
          <p:nvPr/>
        </p:nvPicPr>
        <p:blipFill rotWithShape="1">
          <a:blip r:embed="rId9">
            <a:alphaModFix/>
          </a:blip>
          <a:srcRect/>
          <a:stretch/>
        </p:blipFill>
        <p:spPr>
          <a:xfrm>
            <a:off x="0" y="-9391"/>
            <a:ext cx="528638" cy="528638"/>
          </a:xfrm>
          <a:prstGeom prst="rect">
            <a:avLst/>
          </a:prstGeom>
          <a:noFill/>
          <a:ln>
            <a:noFill/>
          </a:ln>
        </p:spPr>
      </p:pic>
      <mc:AlternateContent xmlns:mc="http://schemas.openxmlformats.org/markup-compatibility/2006" xmlns:p14="http://schemas.microsoft.com/office/powerpoint/2010/main">
        <mc:Choice Requires="p14">
          <p:contentPart p14:bwMode="auto" r:id="rId10">
            <p14:nvContentPartPr>
              <p14:cNvPr id="4" name="Ink 3"/>
              <p14:cNvContentPartPr/>
              <p14:nvPr/>
            </p14:nvContentPartPr>
            <p14:xfrm>
              <a:off x="5572080" y="4299480"/>
              <a:ext cx="20520" cy="20520"/>
            </p14:xfrm>
          </p:contentPart>
        </mc:Choice>
        <mc:Fallback xmlns="">
          <p:pic>
            <p:nvPicPr>
              <p:cNvPr id="4" name="Ink 3"/>
              <p:cNvPicPr/>
              <p:nvPr/>
            </p:nvPicPr>
            <p:blipFill>
              <a:blip r:embed="rId11"/>
              <a:stretch>
                <a:fillRect/>
              </a:stretch>
            </p:blipFill>
            <p:spPr>
              <a:xfrm>
                <a:off x="5562720" y="4290120"/>
                <a:ext cx="39240" cy="39240"/>
              </a:xfrm>
              <a:prstGeom prst="rect">
                <a:avLst/>
              </a:prstGeom>
            </p:spPr>
          </p:pic>
        </mc:Fallback>
      </mc:AlternateContent>
    </p:spTree>
    <p:extLst>
      <p:ext uri="{BB962C8B-B14F-4D97-AF65-F5344CB8AC3E}">
        <p14:creationId xmlns:p14="http://schemas.microsoft.com/office/powerpoint/2010/main" val="11281429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EB7C3-28ED-6290-C7F2-04CA333AF21A}"/>
              </a:ext>
            </a:extLst>
          </p:cNvPr>
          <p:cNvSpPr>
            <a:spLocks noGrp="1"/>
          </p:cNvSpPr>
          <p:nvPr>
            <p:ph type="title"/>
          </p:nvPr>
        </p:nvSpPr>
        <p:spPr/>
        <p:txBody>
          <a:bodyPr>
            <a:normAutofit fontScale="90000"/>
          </a:bodyPr>
          <a:lstStyle/>
          <a:p>
            <a:r>
              <a:rPr lang="en-US" dirty="0"/>
              <a:t>Expected SARSA</a:t>
            </a:r>
          </a:p>
        </p:txBody>
      </p:sp>
      <p:sp>
        <p:nvSpPr>
          <p:cNvPr id="3" name="Text Placeholder 2">
            <a:extLst>
              <a:ext uri="{FF2B5EF4-FFF2-40B4-BE49-F238E27FC236}">
                <a16:creationId xmlns:a16="http://schemas.microsoft.com/office/drawing/2014/main" id="{FBE7BFD7-91C6-5D0A-FE84-5B2316EC3058}"/>
              </a:ext>
            </a:extLst>
          </p:cNvPr>
          <p:cNvSpPr>
            <a:spLocks noGrp="1"/>
          </p:cNvSpPr>
          <p:nvPr>
            <p:ph type="body" idx="1"/>
          </p:nvPr>
        </p:nvSpPr>
        <p:spPr/>
        <p:txBody>
          <a:bodyPr/>
          <a:lstStyle/>
          <a:p>
            <a:r>
              <a:rPr lang="en-US" dirty="0"/>
              <a:t>﻿Instead of the maximum over next state–action pairs it uses the expected value, taking into account how likely each action is under the current policy</a:t>
            </a:r>
          </a:p>
          <a:p>
            <a:endParaRPr lang="en-US" dirty="0"/>
          </a:p>
        </p:txBody>
      </p:sp>
      <p:pic>
        <p:nvPicPr>
          <p:cNvPr id="4" name="Picture 3">
            <a:extLst>
              <a:ext uri="{FF2B5EF4-FFF2-40B4-BE49-F238E27FC236}">
                <a16:creationId xmlns:a16="http://schemas.microsoft.com/office/drawing/2014/main" id="{5DA29381-3DD8-2B19-762A-8502F842331E}"/>
              </a:ext>
            </a:extLst>
          </p:cNvPr>
          <p:cNvPicPr>
            <a:picLocks noChangeAspect="1"/>
          </p:cNvPicPr>
          <p:nvPr/>
        </p:nvPicPr>
        <p:blipFill>
          <a:blip r:embed="rId3"/>
          <a:stretch>
            <a:fillRect/>
          </a:stretch>
        </p:blipFill>
        <p:spPr>
          <a:xfrm>
            <a:off x="685800" y="2055523"/>
            <a:ext cx="7772400" cy="1032453"/>
          </a:xfrm>
          <a:prstGeom prst="rect">
            <a:avLst/>
          </a:prstGeom>
        </p:spPr>
      </p:pic>
    </p:spTree>
    <p:extLst>
      <p:ext uri="{BB962C8B-B14F-4D97-AF65-F5344CB8AC3E}">
        <p14:creationId xmlns:p14="http://schemas.microsoft.com/office/powerpoint/2010/main" val="14789724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B863C-F534-173D-517E-0D2B8F48B5E3}"/>
              </a:ext>
            </a:extLst>
          </p:cNvPr>
          <p:cNvSpPr>
            <a:spLocks noGrp="1"/>
          </p:cNvSpPr>
          <p:nvPr>
            <p:ph type="title"/>
          </p:nvPr>
        </p:nvSpPr>
        <p:spPr/>
        <p:txBody>
          <a:bodyPr>
            <a:normAutofit fontScale="90000"/>
          </a:bodyPr>
          <a:lstStyle/>
          <a:p>
            <a:r>
              <a:rPr lang="en-US" dirty="0"/>
              <a:t>Maximization Bias &amp; Double Learning</a:t>
            </a:r>
          </a:p>
        </p:txBody>
      </p:sp>
      <p:sp>
        <p:nvSpPr>
          <p:cNvPr id="3" name="Text Placeholder 2">
            <a:extLst>
              <a:ext uri="{FF2B5EF4-FFF2-40B4-BE49-F238E27FC236}">
                <a16:creationId xmlns:a16="http://schemas.microsoft.com/office/drawing/2014/main" id="{7D71BDF7-C7D4-9924-5BB7-919F7A4764AC}"/>
              </a:ext>
            </a:extLst>
          </p:cNvPr>
          <p:cNvSpPr>
            <a:spLocks noGrp="1"/>
          </p:cNvSpPr>
          <p:nvPr>
            <p:ph type="body" idx="1"/>
          </p:nvPr>
        </p:nvSpPr>
        <p:spPr/>
        <p:txBody>
          <a:bodyPr/>
          <a:lstStyle/>
          <a:p>
            <a:r>
              <a:rPr lang="en-US" dirty="0"/>
              <a:t>﻿</a:t>
            </a:r>
            <a:r>
              <a:rPr lang="en-US" dirty="0">
                <a:solidFill>
                  <a:schemeClr val="tx1"/>
                </a:solidFill>
              </a:rPr>
              <a:t>Maximum over estimated values is used implicitly as an estimate of the</a:t>
            </a:r>
          </a:p>
          <a:p>
            <a:pPr marL="114300" indent="0">
              <a:buNone/>
            </a:pPr>
            <a:r>
              <a:rPr lang="en-US" dirty="0">
                <a:solidFill>
                  <a:schemeClr val="tx1"/>
                </a:solidFill>
              </a:rPr>
              <a:t>maximum value, which can lead to a significant positive bias.</a:t>
            </a:r>
          </a:p>
          <a:p>
            <a:r>
              <a:rPr lang="en-US" dirty="0">
                <a:solidFill>
                  <a:schemeClr val="tx1"/>
                </a:solidFill>
              </a:rPr>
              <a:t>Solution – Learn two estimates – Double Learning</a:t>
            </a:r>
          </a:p>
          <a:p>
            <a:r>
              <a:rPr lang="en-US" dirty="0">
                <a:solidFill>
                  <a:schemeClr val="tx1"/>
                </a:solidFill>
              </a:rPr>
              <a:t>﻿Double learning doubles the memory requirements, but does not</a:t>
            </a:r>
          </a:p>
          <a:p>
            <a:pPr marL="114300" indent="0">
              <a:buNone/>
            </a:pPr>
            <a:r>
              <a:rPr lang="en-US" dirty="0">
                <a:solidFill>
                  <a:schemeClr val="tx1"/>
                </a:solidFill>
              </a:rPr>
              <a:t>increase the amount of computation per step.</a:t>
            </a:r>
          </a:p>
          <a:p>
            <a:pPr marL="114300" indent="0">
              <a:buNone/>
            </a:pPr>
            <a:endParaRPr lang="en-US" dirty="0"/>
          </a:p>
        </p:txBody>
      </p:sp>
    </p:spTree>
    <p:extLst>
      <p:ext uri="{BB962C8B-B14F-4D97-AF65-F5344CB8AC3E}">
        <p14:creationId xmlns:p14="http://schemas.microsoft.com/office/powerpoint/2010/main" val="36963277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g240f7f18ef0_0_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 n-step TD Prediction</a:t>
            </a:r>
            <a:endParaRPr dirty="0"/>
          </a:p>
        </p:txBody>
      </p:sp>
      <p:pic>
        <p:nvPicPr>
          <p:cNvPr id="622" name="Google Shape;622;g240f7f18ef0_0_0"/>
          <p:cNvPicPr preferRelativeResize="0"/>
          <p:nvPr/>
        </p:nvPicPr>
        <p:blipFill>
          <a:blip r:embed="rId3">
            <a:alphaModFix/>
          </a:blip>
          <a:stretch>
            <a:fillRect/>
          </a:stretch>
        </p:blipFill>
        <p:spPr>
          <a:xfrm>
            <a:off x="4540575" y="920675"/>
            <a:ext cx="4520324" cy="3769650"/>
          </a:xfrm>
          <a:prstGeom prst="rect">
            <a:avLst/>
          </a:prstGeom>
          <a:noFill/>
          <a:ln>
            <a:noFill/>
          </a:ln>
        </p:spPr>
      </p:pic>
      <p:sp>
        <p:nvSpPr>
          <p:cNvPr id="623" name="Google Shape;623;g240f7f18ef0_0_0"/>
          <p:cNvSpPr txBox="1"/>
          <p:nvPr/>
        </p:nvSpPr>
        <p:spPr>
          <a:xfrm>
            <a:off x="1044450" y="4642750"/>
            <a:ext cx="4120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a:t>Ref Section 7.1 of TB</a:t>
            </a:r>
            <a:endParaRPr sz="1000" b="1"/>
          </a:p>
        </p:txBody>
      </p:sp>
      <p:sp>
        <p:nvSpPr>
          <p:cNvPr id="624" name="Google Shape;624;g240f7f18ef0_0_0"/>
          <p:cNvSpPr txBox="1"/>
          <p:nvPr/>
        </p:nvSpPr>
        <p:spPr>
          <a:xfrm>
            <a:off x="0" y="1087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One-step return</a:t>
            </a:r>
            <a:r>
              <a:rPr lang="en-US"/>
              <a:t>: </a:t>
            </a:r>
            <a:endParaRPr/>
          </a:p>
        </p:txBody>
      </p:sp>
      <p:pic>
        <p:nvPicPr>
          <p:cNvPr id="625" name="Google Shape;625;g240f7f18ef0_0_0"/>
          <p:cNvPicPr preferRelativeResize="0"/>
          <p:nvPr/>
        </p:nvPicPr>
        <p:blipFill>
          <a:blip r:embed="rId4">
            <a:alphaModFix/>
          </a:blip>
          <a:stretch>
            <a:fillRect/>
          </a:stretch>
        </p:blipFill>
        <p:spPr>
          <a:xfrm>
            <a:off x="953625" y="1411675"/>
            <a:ext cx="2491575" cy="400200"/>
          </a:xfrm>
          <a:prstGeom prst="rect">
            <a:avLst/>
          </a:prstGeom>
          <a:noFill/>
          <a:ln>
            <a:noFill/>
          </a:ln>
        </p:spPr>
      </p:pic>
      <p:sp>
        <p:nvSpPr>
          <p:cNvPr id="626" name="Google Shape;626;g240f7f18ef0_0_0"/>
          <p:cNvSpPr txBox="1"/>
          <p:nvPr/>
        </p:nvSpPr>
        <p:spPr>
          <a:xfrm>
            <a:off x="0" y="1773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Two-step return</a:t>
            </a:r>
            <a:r>
              <a:rPr lang="en-US"/>
              <a:t>: </a:t>
            </a:r>
            <a:endParaRPr/>
          </a:p>
        </p:txBody>
      </p:sp>
      <p:pic>
        <p:nvPicPr>
          <p:cNvPr id="627" name="Google Shape;627;g240f7f18ef0_0_0"/>
          <p:cNvPicPr preferRelativeResize="0"/>
          <p:nvPr/>
        </p:nvPicPr>
        <p:blipFill>
          <a:blip r:embed="rId5">
            <a:alphaModFix/>
          </a:blip>
          <a:stretch>
            <a:fillRect/>
          </a:stretch>
        </p:blipFill>
        <p:spPr>
          <a:xfrm>
            <a:off x="418525" y="2234000"/>
            <a:ext cx="3644775" cy="3704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g240f7f18ef0_0_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n-step TD Prediction</a:t>
            </a:r>
            <a:endParaRPr dirty="0"/>
          </a:p>
        </p:txBody>
      </p:sp>
      <p:pic>
        <p:nvPicPr>
          <p:cNvPr id="633" name="Google Shape;633;g240f7f18ef0_0_33"/>
          <p:cNvPicPr preferRelativeResize="0"/>
          <p:nvPr/>
        </p:nvPicPr>
        <p:blipFill>
          <a:blip r:embed="rId3">
            <a:alphaModFix/>
          </a:blip>
          <a:stretch>
            <a:fillRect/>
          </a:stretch>
        </p:blipFill>
        <p:spPr>
          <a:xfrm>
            <a:off x="4540575" y="920675"/>
            <a:ext cx="4520324" cy="3769650"/>
          </a:xfrm>
          <a:prstGeom prst="rect">
            <a:avLst/>
          </a:prstGeom>
          <a:noFill/>
          <a:ln>
            <a:noFill/>
          </a:ln>
        </p:spPr>
      </p:pic>
      <p:sp>
        <p:nvSpPr>
          <p:cNvPr id="634" name="Google Shape;634;g240f7f18ef0_0_33"/>
          <p:cNvSpPr txBox="1"/>
          <p:nvPr/>
        </p:nvSpPr>
        <p:spPr>
          <a:xfrm>
            <a:off x="1044450" y="4642750"/>
            <a:ext cx="4120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a:t>Ref Section 7.1 of TB</a:t>
            </a:r>
            <a:endParaRPr sz="1000" b="1"/>
          </a:p>
        </p:txBody>
      </p:sp>
      <p:sp>
        <p:nvSpPr>
          <p:cNvPr id="635" name="Google Shape;635;g240f7f18ef0_0_33"/>
          <p:cNvSpPr txBox="1"/>
          <p:nvPr/>
        </p:nvSpPr>
        <p:spPr>
          <a:xfrm>
            <a:off x="0" y="1087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One-step return</a:t>
            </a:r>
            <a:r>
              <a:rPr lang="en-US"/>
              <a:t>: </a:t>
            </a:r>
            <a:endParaRPr/>
          </a:p>
        </p:txBody>
      </p:sp>
      <p:pic>
        <p:nvPicPr>
          <p:cNvPr id="636" name="Google Shape;636;g240f7f18ef0_0_33"/>
          <p:cNvPicPr preferRelativeResize="0"/>
          <p:nvPr/>
        </p:nvPicPr>
        <p:blipFill>
          <a:blip r:embed="rId4">
            <a:alphaModFix/>
          </a:blip>
          <a:stretch>
            <a:fillRect/>
          </a:stretch>
        </p:blipFill>
        <p:spPr>
          <a:xfrm>
            <a:off x="953625" y="1411675"/>
            <a:ext cx="2491575" cy="400200"/>
          </a:xfrm>
          <a:prstGeom prst="rect">
            <a:avLst/>
          </a:prstGeom>
          <a:noFill/>
          <a:ln>
            <a:noFill/>
          </a:ln>
        </p:spPr>
      </p:pic>
      <p:sp>
        <p:nvSpPr>
          <p:cNvPr id="637" name="Google Shape;637;g240f7f18ef0_0_33"/>
          <p:cNvSpPr txBox="1"/>
          <p:nvPr/>
        </p:nvSpPr>
        <p:spPr>
          <a:xfrm>
            <a:off x="0" y="1773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Two-step return</a:t>
            </a:r>
            <a:r>
              <a:rPr lang="en-US"/>
              <a:t>: </a:t>
            </a:r>
            <a:endParaRPr/>
          </a:p>
        </p:txBody>
      </p:sp>
      <p:pic>
        <p:nvPicPr>
          <p:cNvPr id="638" name="Google Shape;638;g240f7f18ef0_0_33"/>
          <p:cNvPicPr preferRelativeResize="0"/>
          <p:nvPr/>
        </p:nvPicPr>
        <p:blipFill>
          <a:blip r:embed="rId5">
            <a:alphaModFix/>
          </a:blip>
          <a:stretch>
            <a:fillRect/>
          </a:stretch>
        </p:blipFill>
        <p:spPr>
          <a:xfrm>
            <a:off x="418525" y="2234000"/>
            <a:ext cx="3644775" cy="370425"/>
          </a:xfrm>
          <a:prstGeom prst="rect">
            <a:avLst/>
          </a:prstGeom>
          <a:noFill/>
          <a:ln>
            <a:noFill/>
          </a:ln>
        </p:spPr>
      </p:pic>
      <p:sp>
        <p:nvSpPr>
          <p:cNvPr id="639" name="Google Shape;639;g240f7f18ef0_0_33"/>
          <p:cNvSpPr txBox="1"/>
          <p:nvPr/>
        </p:nvSpPr>
        <p:spPr>
          <a:xfrm>
            <a:off x="0" y="2611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n-step return</a:t>
            </a:r>
            <a:r>
              <a:rPr lang="en-US"/>
              <a:t>: </a:t>
            </a:r>
            <a:endParaRPr/>
          </a:p>
        </p:txBody>
      </p:sp>
      <p:pic>
        <p:nvPicPr>
          <p:cNvPr id="640" name="Google Shape;640;g240f7f18ef0_0_33"/>
          <p:cNvPicPr preferRelativeResize="0"/>
          <p:nvPr/>
        </p:nvPicPr>
        <p:blipFill>
          <a:blip r:embed="rId6">
            <a:alphaModFix/>
          </a:blip>
          <a:stretch>
            <a:fillRect/>
          </a:stretch>
        </p:blipFill>
        <p:spPr>
          <a:xfrm>
            <a:off x="325150" y="3065550"/>
            <a:ext cx="5154376" cy="3387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44"/>
        <p:cNvGrpSpPr/>
        <p:nvPr/>
      </p:nvGrpSpPr>
      <p:grpSpPr>
        <a:xfrm>
          <a:off x="0" y="0"/>
          <a:ext cx="0" cy="0"/>
          <a:chOff x="0" y="0"/>
          <a:chExt cx="0" cy="0"/>
        </a:xfrm>
      </p:grpSpPr>
      <p:sp>
        <p:nvSpPr>
          <p:cNvPr id="645" name="Google Shape;645;g240f7f18ef0_0_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 n-step TD Prediction</a:t>
            </a:r>
            <a:endParaRPr dirty="0"/>
          </a:p>
        </p:txBody>
      </p:sp>
      <p:pic>
        <p:nvPicPr>
          <p:cNvPr id="646" name="Google Shape;646;g240f7f18ef0_0_19"/>
          <p:cNvPicPr preferRelativeResize="0"/>
          <p:nvPr/>
        </p:nvPicPr>
        <p:blipFill>
          <a:blip r:embed="rId3">
            <a:alphaModFix/>
          </a:blip>
          <a:stretch>
            <a:fillRect/>
          </a:stretch>
        </p:blipFill>
        <p:spPr>
          <a:xfrm>
            <a:off x="4540575" y="920675"/>
            <a:ext cx="4520324" cy="3769650"/>
          </a:xfrm>
          <a:prstGeom prst="rect">
            <a:avLst/>
          </a:prstGeom>
          <a:noFill/>
          <a:ln>
            <a:noFill/>
          </a:ln>
        </p:spPr>
      </p:pic>
      <p:sp>
        <p:nvSpPr>
          <p:cNvPr id="647" name="Google Shape;647;g240f7f18ef0_0_19"/>
          <p:cNvSpPr txBox="1"/>
          <p:nvPr/>
        </p:nvSpPr>
        <p:spPr>
          <a:xfrm>
            <a:off x="1044450" y="4642750"/>
            <a:ext cx="41205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000" b="1"/>
              <a:t>Ref Section 7.1 of TB</a:t>
            </a:r>
            <a:endParaRPr sz="1000" b="1"/>
          </a:p>
        </p:txBody>
      </p:sp>
      <p:sp>
        <p:nvSpPr>
          <p:cNvPr id="648" name="Google Shape;648;g240f7f18ef0_0_19"/>
          <p:cNvSpPr txBox="1"/>
          <p:nvPr/>
        </p:nvSpPr>
        <p:spPr>
          <a:xfrm>
            <a:off x="0" y="1087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One-step return</a:t>
            </a:r>
            <a:r>
              <a:rPr lang="en-US"/>
              <a:t>: </a:t>
            </a:r>
            <a:endParaRPr/>
          </a:p>
        </p:txBody>
      </p:sp>
      <p:pic>
        <p:nvPicPr>
          <p:cNvPr id="649" name="Google Shape;649;g240f7f18ef0_0_19"/>
          <p:cNvPicPr preferRelativeResize="0"/>
          <p:nvPr/>
        </p:nvPicPr>
        <p:blipFill>
          <a:blip r:embed="rId4">
            <a:alphaModFix/>
          </a:blip>
          <a:stretch>
            <a:fillRect/>
          </a:stretch>
        </p:blipFill>
        <p:spPr>
          <a:xfrm>
            <a:off x="953625" y="1411675"/>
            <a:ext cx="2491575" cy="400200"/>
          </a:xfrm>
          <a:prstGeom prst="rect">
            <a:avLst/>
          </a:prstGeom>
          <a:noFill/>
          <a:ln>
            <a:noFill/>
          </a:ln>
        </p:spPr>
      </p:pic>
      <p:sp>
        <p:nvSpPr>
          <p:cNvPr id="650" name="Google Shape;650;g240f7f18ef0_0_19"/>
          <p:cNvSpPr txBox="1"/>
          <p:nvPr/>
        </p:nvSpPr>
        <p:spPr>
          <a:xfrm>
            <a:off x="0" y="17734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Two-step return</a:t>
            </a:r>
            <a:r>
              <a:rPr lang="en-US"/>
              <a:t>: </a:t>
            </a:r>
            <a:endParaRPr/>
          </a:p>
        </p:txBody>
      </p:sp>
      <p:pic>
        <p:nvPicPr>
          <p:cNvPr id="651" name="Google Shape;651;g240f7f18ef0_0_19"/>
          <p:cNvPicPr preferRelativeResize="0"/>
          <p:nvPr/>
        </p:nvPicPr>
        <p:blipFill>
          <a:blip r:embed="rId5">
            <a:alphaModFix/>
          </a:blip>
          <a:stretch>
            <a:fillRect/>
          </a:stretch>
        </p:blipFill>
        <p:spPr>
          <a:xfrm>
            <a:off x="418525" y="2234000"/>
            <a:ext cx="3644775" cy="370425"/>
          </a:xfrm>
          <a:prstGeom prst="rect">
            <a:avLst/>
          </a:prstGeom>
          <a:noFill/>
          <a:ln>
            <a:noFill/>
          </a:ln>
        </p:spPr>
      </p:pic>
      <p:sp>
        <p:nvSpPr>
          <p:cNvPr id="652" name="Google Shape;652;g240f7f18ef0_0_19"/>
          <p:cNvSpPr txBox="1"/>
          <p:nvPr/>
        </p:nvSpPr>
        <p:spPr>
          <a:xfrm>
            <a:off x="0" y="261167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n-step return</a:t>
            </a:r>
            <a:r>
              <a:rPr lang="en-US"/>
              <a:t>: </a:t>
            </a:r>
            <a:endParaRPr/>
          </a:p>
        </p:txBody>
      </p:sp>
      <p:pic>
        <p:nvPicPr>
          <p:cNvPr id="653" name="Google Shape;653;g240f7f18ef0_0_19"/>
          <p:cNvPicPr preferRelativeResize="0"/>
          <p:nvPr/>
        </p:nvPicPr>
        <p:blipFill>
          <a:blip r:embed="rId6">
            <a:alphaModFix/>
          </a:blip>
          <a:stretch>
            <a:fillRect/>
          </a:stretch>
        </p:blipFill>
        <p:spPr>
          <a:xfrm>
            <a:off x="325150" y="3065550"/>
            <a:ext cx="5154376" cy="338700"/>
          </a:xfrm>
          <a:prstGeom prst="rect">
            <a:avLst/>
          </a:prstGeom>
          <a:noFill/>
          <a:ln>
            <a:noFill/>
          </a:ln>
        </p:spPr>
      </p:pic>
      <p:sp>
        <p:nvSpPr>
          <p:cNvPr id="654" name="Google Shape;654;g240f7f18ef0_0_19"/>
          <p:cNvSpPr txBox="1"/>
          <p:nvPr/>
        </p:nvSpPr>
        <p:spPr>
          <a:xfrm>
            <a:off x="50075" y="3404250"/>
            <a:ext cx="6045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u="sng"/>
              <a:t>State-value learning algorithm for using n-step returns: </a:t>
            </a:r>
            <a:endParaRPr u="sng"/>
          </a:p>
        </p:txBody>
      </p:sp>
      <p:pic>
        <p:nvPicPr>
          <p:cNvPr id="655" name="Google Shape;655;g240f7f18ef0_0_19"/>
          <p:cNvPicPr preferRelativeResize="0"/>
          <p:nvPr/>
        </p:nvPicPr>
        <p:blipFill>
          <a:blip r:embed="rId7">
            <a:alphaModFix/>
          </a:blip>
          <a:stretch>
            <a:fillRect/>
          </a:stretch>
        </p:blipFill>
        <p:spPr>
          <a:xfrm>
            <a:off x="130550" y="3865375"/>
            <a:ext cx="5849129" cy="3704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40f7f18ef0_0_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n-step TD Prediction</a:t>
            </a:r>
            <a:endParaRPr dirty="0"/>
          </a:p>
        </p:txBody>
      </p:sp>
      <p:pic>
        <p:nvPicPr>
          <p:cNvPr id="661" name="Google Shape;661;g240f7f18ef0_0_45"/>
          <p:cNvPicPr preferRelativeResize="0"/>
          <p:nvPr/>
        </p:nvPicPr>
        <p:blipFill>
          <a:blip r:embed="rId3">
            <a:alphaModFix/>
          </a:blip>
          <a:stretch>
            <a:fillRect/>
          </a:stretch>
        </p:blipFill>
        <p:spPr>
          <a:xfrm>
            <a:off x="152400" y="1170125"/>
            <a:ext cx="5722074" cy="38209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37"/>
          <p:cNvSpPr txBox="1">
            <a:spLocks noGrp="1"/>
          </p:cNvSpPr>
          <p:nvPr>
            <p:ph type="title"/>
          </p:nvPr>
        </p:nvSpPr>
        <p:spPr>
          <a:xfrm>
            <a:off x="628650" y="789056"/>
            <a:ext cx="7886700" cy="4200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Clr>
                <a:schemeClr val="dk1"/>
              </a:buClr>
              <a:buSzPts val="2700"/>
              <a:buFont typeface="Calibri"/>
              <a:buNone/>
            </a:pPr>
            <a:r>
              <a:rPr lang="en-US" sz="2000">
                <a:solidFill>
                  <a:srgbClr val="4C1130"/>
                </a:solidFill>
                <a:latin typeface="Comfortaa"/>
                <a:ea typeface="Comfortaa"/>
                <a:cs typeface="Comfortaa"/>
                <a:sym typeface="Comfortaa"/>
              </a:rPr>
              <a:t>Required Readings</a:t>
            </a:r>
            <a:endParaRPr sz="2000">
              <a:solidFill>
                <a:srgbClr val="4C1130"/>
              </a:solidFill>
              <a:latin typeface="Comfortaa"/>
              <a:ea typeface="Comfortaa"/>
              <a:cs typeface="Comfortaa"/>
              <a:sym typeface="Comfortaa"/>
            </a:endParaRPr>
          </a:p>
        </p:txBody>
      </p:sp>
      <p:sp>
        <p:nvSpPr>
          <p:cNvPr id="847" name="Google Shape;847;p3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700"/>
              <a:buFont typeface="Arial"/>
              <a:buNone/>
            </a:pPr>
            <a:fld id="{00000000-1234-1234-1234-123412341234}" type="slidenum">
              <a:rPr lang="en-US"/>
              <a:t>43</a:t>
            </a:fld>
            <a:endParaRPr/>
          </a:p>
        </p:txBody>
      </p:sp>
      <p:sp>
        <p:nvSpPr>
          <p:cNvPr id="848" name="Google Shape;848;p37"/>
          <p:cNvSpPr txBox="1">
            <a:spLocks noGrp="1"/>
          </p:cNvSpPr>
          <p:nvPr>
            <p:ph type="body" idx="1"/>
          </p:nvPr>
        </p:nvSpPr>
        <p:spPr>
          <a:xfrm>
            <a:off x="628650" y="1420593"/>
            <a:ext cx="7886700" cy="669000"/>
          </a:xfrm>
          <a:prstGeom prst="rect">
            <a:avLst/>
          </a:prstGeom>
          <a:noFill/>
          <a:ln>
            <a:noFill/>
          </a:ln>
        </p:spPr>
        <p:txBody>
          <a:bodyPr spcFirstLastPara="1" wrap="square" lIns="68575" tIns="34275" rIns="68575" bIns="34275" anchor="t" anchorCtr="0">
            <a:normAutofit/>
          </a:bodyPr>
          <a:lstStyle/>
          <a:p>
            <a:pPr marL="342900" lvl="0" indent="-266700" algn="l" rtl="0">
              <a:lnSpc>
                <a:spcPct val="100000"/>
              </a:lnSpc>
              <a:spcBef>
                <a:spcPts val="800"/>
              </a:spcBef>
              <a:spcAft>
                <a:spcPts val="0"/>
              </a:spcAft>
              <a:buClr>
                <a:srgbClr val="1C4587"/>
              </a:buClr>
              <a:buSzPts val="1600"/>
              <a:buFont typeface="Comfortaa"/>
              <a:buAutoNum type="arabicPeriod"/>
            </a:pPr>
            <a:r>
              <a:rPr lang="en-US" sz="1600">
                <a:solidFill>
                  <a:srgbClr val="1C4587"/>
                </a:solidFill>
                <a:latin typeface="Comfortaa"/>
                <a:ea typeface="Comfortaa"/>
                <a:cs typeface="Comfortaa"/>
                <a:sym typeface="Comfortaa"/>
              </a:rPr>
              <a:t>Chapter-6 of Introduction to Reinforcement Learning,2</a:t>
            </a:r>
            <a:r>
              <a:rPr lang="en-US" sz="1600" baseline="30000">
                <a:solidFill>
                  <a:srgbClr val="1C4587"/>
                </a:solidFill>
                <a:latin typeface="Comfortaa"/>
                <a:ea typeface="Comfortaa"/>
                <a:cs typeface="Comfortaa"/>
                <a:sym typeface="Comfortaa"/>
              </a:rPr>
              <a:t>nd</a:t>
            </a:r>
            <a:r>
              <a:rPr lang="en-US" sz="1600">
                <a:solidFill>
                  <a:srgbClr val="1C4587"/>
                </a:solidFill>
                <a:latin typeface="Comfortaa"/>
                <a:ea typeface="Comfortaa"/>
                <a:cs typeface="Comfortaa"/>
                <a:sym typeface="Comfortaa"/>
              </a:rPr>
              <a:t> Ed.,  Sutton &amp; Barto</a:t>
            </a:r>
            <a:endParaRPr sz="1600">
              <a:solidFill>
                <a:srgbClr val="1C4587"/>
              </a:solidFill>
              <a:latin typeface="Comfortaa"/>
              <a:ea typeface="Comfortaa"/>
              <a:cs typeface="Comfortaa"/>
              <a:sym typeface="Comforta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53"/>
        <p:cNvGrpSpPr/>
        <p:nvPr/>
      </p:nvGrpSpPr>
      <p:grpSpPr>
        <a:xfrm>
          <a:off x="0" y="0"/>
          <a:ext cx="0" cy="0"/>
          <a:chOff x="0" y="0"/>
          <a:chExt cx="0" cy="0"/>
        </a:xfrm>
      </p:grpSpPr>
      <p:sp>
        <p:nvSpPr>
          <p:cNvPr id="854" name="Google Shape;854;p38"/>
          <p:cNvSpPr txBox="1">
            <a:spLocks noGrp="1"/>
          </p:cNvSpPr>
          <p:nvPr>
            <p:ph type="title"/>
          </p:nvPr>
        </p:nvSpPr>
        <p:spPr>
          <a:xfrm>
            <a:off x="3493293" y="2107406"/>
            <a:ext cx="5022000" cy="1432500"/>
          </a:xfrm>
          <a:prstGeom prst="rect">
            <a:avLst/>
          </a:prstGeom>
          <a:noFill/>
          <a:ln>
            <a:noFill/>
          </a:ln>
        </p:spPr>
        <p:txBody>
          <a:bodyPr spcFirstLastPara="1" wrap="square" lIns="68575" tIns="34275" rIns="68575" bIns="34275" anchor="b" anchorCtr="0">
            <a:normAutofit/>
          </a:bodyPr>
          <a:lstStyle/>
          <a:p>
            <a:pPr marL="0" lvl="0" indent="0" algn="l" rtl="0">
              <a:lnSpc>
                <a:spcPct val="90000"/>
              </a:lnSpc>
              <a:spcBef>
                <a:spcPts val="0"/>
              </a:spcBef>
              <a:spcAft>
                <a:spcPts val="0"/>
              </a:spcAft>
              <a:buSzPts val="2100"/>
              <a:buNone/>
            </a:pPr>
            <a:r>
              <a:rPr lang="en-US"/>
              <a:t>Thank you</a:t>
            </a:r>
            <a:endParaRPr/>
          </a:p>
        </p:txBody>
      </p:sp>
      <p:sp>
        <p:nvSpPr>
          <p:cNvPr id="855" name="Google Shape;855;p38"/>
          <p:cNvSpPr txBox="1">
            <a:spLocks noGrp="1"/>
          </p:cNvSpPr>
          <p:nvPr>
            <p:ph type="subTitle" idx="1"/>
          </p:nvPr>
        </p:nvSpPr>
        <p:spPr>
          <a:xfrm>
            <a:off x="3493294" y="3771602"/>
            <a:ext cx="5022000" cy="273900"/>
          </a:xfrm>
          <a:prstGeom prst="rect">
            <a:avLst/>
          </a:prstGeom>
          <a:noFill/>
          <a:ln>
            <a:noFill/>
          </a:ln>
        </p:spPr>
        <p:txBody>
          <a:bodyPr spcFirstLastPara="1" wrap="square" lIns="68575" tIns="34275" rIns="68575" bIns="34275" anchor="b" anchorCtr="0">
            <a:normAutofit fontScale="77500" lnSpcReduction="20000"/>
          </a:bodyPr>
          <a:lstStyle/>
          <a:p>
            <a:pPr marL="0" lvl="0" indent="0" algn="l" rtl="0">
              <a:lnSpc>
                <a:spcPct val="90000"/>
              </a:lnSpc>
              <a:spcBef>
                <a:spcPts val="800"/>
              </a:spcBef>
              <a:spcAft>
                <a:spcPts val="0"/>
              </a:spcAft>
              <a:buSzPct val="129032"/>
              <a:buNone/>
            </a:pPr>
            <a:endParaRPr/>
          </a:p>
        </p:txBody>
      </p:sp>
      <p:sp>
        <p:nvSpPr>
          <p:cNvPr id="856" name="Google Shape;856;p38"/>
          <p:cNvSpPr txBox="1">
            <a:spLocks noGrp="1"/>
          </p:cNvSpPr>
          <p:nvPr>
            <p:ph type="sldNum" idx="12"/>
          </p:nvPr>
        </p:nvSpPr>
        <p:spPr>
          <a:xfrm>
            <a:off x="7243763" y="4767263"/>
            <a:ext cx="12717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700"/>
              <a:buFont typeface="Arial"/>
              <a:buNone/>
            </a:pPr>
            <a:fld id="{00000000-1234-1234-1234-123412341234}" type="slidenum">
              <a:rPr lang="en-US"/>
              <a:t>44</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1288</TotalTime>
  <Words>1882</Words>
  <Application>Microsoft Macintosh PowerPoint</Application>
  <PresentationFormat>On-screen Show (16:9)</PresentationFormat>
  <Paragraphs>843</Paragraphs>
  <Slides>44</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44</vt:i4>
      </vt:variant>
    </vt:vector>
  </HeadingPairs>
  <TitlesOfParts>
    <vt:vector size="50" baseType="lpstr">
      <vt:lpstr>Comfortaa</vt:lpstr>
      <vt:lpstr>Arial</vt:lpstr>
      <vt:lpstr>Calibri</vt:lpstr>
      <vt:lpstr>Cambria Math</vt:lpstr>
      <vt:lpstr>Simple Light</vt:lpstr>
      <vt:lpstr>Office Theme</vt:lpstr>
      <vt:lpstr> Session #9:  Temporal Difference Learning </vt:lpstr>
      <vt:lpstr>Agenda for the class </vt:lpstr>
      <vt:lpstr>Solving MDPs so far</vt:lpstr>
      <vt:lpstr>Fuse DP and MC</vt:lpstr>
      <vt:lpstr>Temporal difference learning </vt:lpstr>
      <vt:lpstr>Temporal Difference learning</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SARSA: On-policy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Q-learning: Off-policy TD Control</vt:lpstr>
      <vt:lpstr>Expected SARSA</vt:lpstr>
      <vt:lpstr>Maximization Bias &amp; Double Learning</vt:lpstr>
      <vt:lpstr> n-step TD Prediction</vt:lpstr>
      <vt:lpstr>n-step TD Prediction</vt:lpstr>
      <vt:lpstr> n-step TD Prediction</vt:lpstr>
      <vt:lpstr>n-step TD Prediction</vt:lpstr>
      <vt:lpstr>Required Readings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Sangeetha Viswanathan</cp:lastModifiedBy>
  <cp:revision>2</cp:revision>
  <dcterms:modified xsi:type="dcterms:W3CDTF">2025-01-22T03:32:20Z</dcterms:modified>
</cp:coreProperties>
</file>